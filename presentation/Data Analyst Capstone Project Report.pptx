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9"/>
  </p:notesMasterIdLst>
  <p:sldIdLst>
    <p:sldId id="256" r:id="rId5"/>
    <p:sldId id="257" r:id="rId6"/>
    <p:sldId id="258" r:id="rId7"/>
    <p:sldId id="259" r:id="rId8"/>
    <p:sldId id="260" r:id="rId9"/>
    <p:sldId id="278" r:id="rId10"/>
    <p:sldId id="274" r:id="rId11"/>
    <p:sldId id="275" r:id="rId12"/>
    <p:sldId id="262" r:id="rId13"/>
    <p:sldId id="263" r:id="rId14"/>
    <p:sldId id="264" r:id="rId15"/>
    <p:sldId id="279" r:id="rId16"/>
    <p:sldId id="265" r:id="rId17"/>
    <p:sldId id="266" r:id="rId18"/>
    <p:sldId id="267" r:id="rId19"/>
    <p:sldId id="280" r:id="rId20"/>
    <p:sldId id="268" r:id="rId21"/>
    <p:sldId id="281" r:id="rId22"/>
    <p:sldId id="269" r:id="rId23"/>
    <p:sldId id="282" r:id="rId24"/>
    <p:sldId id="270" r:id="rId25"/>
    <p:sldId id="271" r:id="rId26"/>
    <p:sldId id="272" r:id="rId27"/>
    <p:sldId id="273" r:id="rId28"/>
  </p:sldIdLst>
  <p:sldSz cx="12192000" cy="6858000"/>
  <p:notesSz cx="6858000" cy="1857375"/>
  <p:custDataLst>
    <p:tags r:id="rId3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4" userDrawn="1">
          <p15:clr>
            <a:srgbClr val="A4A3A4"/>
          </p15:clr>
        </p15:guide>
        <p15:guide id="2" pos="28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D3AA52-0FB4-F6D0-6D07-1A3D2D9FD3FC}" name="Marianne Seidler" initials="MS" userId="S::mariannes@skillup.tech::bb0b4178-c940-4a9a-9c5e-e97bf5d50d86" providerId="AD"/>
  <p188:author id="{F554C3DC-94B8-9F7D-83FC-6D4CEC0DE845}" name="Dawn Teel-Friedman" initials="DTF" userId="Dawn Teel-Friedm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Beth Larsen" initials="BL" lastIdx="1" clrIdx="4">
    <p:extLst>
      <p:ext uri="{19B8F6BF-5375-455C-9EA6-DF929625EA0E}">
        <p15:presenceInfo xmlns:p15="http://schemas.microsoft.com/office/powerpoint/2012/main" userId="04edb8684ac0beb8" providerId="Windows Live"/>
      </p:ext>
    </p:extLst>
  </p:cmAuthor>
  <p:cmAuthor id="6" name="Matt Ockenfels" initials="MO" lastIdx="1" clrIdx="5">
    <p:extLst>
      <p:ext uri="{19B8F6BF-5375-455C-9EA6-DF929625EA0E}">
        <p15:presenceInfo xmlns:p15="http://schemas.microsoft.com/office/powerpoint/2012/main" userId="S::matto@skillup.tech::1f5f8b86-5465-4302-9a82-9a36d055e8b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B49"/>
    <a:srgbClr val="E76F39"/>
    <a:srgbClr val="0072C3"/>
    <a:srgbClr val="007D79"/>
    <a:srgbClr val="D02670"/>
    <a:srgbClr val="231F20"/>
    <a:srgbClr val="33B1FF"/>
    <a:srgbClr val="262626"/>
    <a:srgbClr val="525252"/>
    <a:srgbClr val="BE95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13" autoAdjust="0"/>
    <p:restoredTop sz="91480" autoAdjust="0"/>
  </p:normalViewPr>
  <p:slideViewPr>
    <p:cSldViewPr snapToGrid="0">
      <p:cViewPr varScale="1">
        <p:scale>
          <a:sx n="81" d="100"/>
          <a:sy n="81" d="100"/>
        </p:scale>
        <p:origin x="48" y="235"/>
      </p:cViewPr>
      <p:guideLst>
        <p:guide orient="horz" pos="744"/>
        <p:guide pos="288"/>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ags" Target="tags/tag1.xml"/><Relationship Id="rId35"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0,'6'0,"-4"6,-2 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6/16/2026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r>
              <a:rPr lang="en-US"/>
              <a:t> </a:t>
            </a: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headEnd/>
            <a:tailEnd/>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p>
        </p:txBody>
      </p:sp>
      <p:grpSp>
        <p:nvGrpSpPr>
          <p:cNvPr id="5" name="Group 4">
            <a:extLst>
              <a:ext uri="{FF2B5EF4-FFF2-40B4-BE49-F238E27FC236}">
                <a16:creationId xmlns:a16="http://schemas.microsoft.com/office/drawing/2014/main" id="{CB5BAB42-A6B6-D2DB-EC91-721CA287B900}"/>
              </a:ext>
            </a:extLst>
          </p:cNvPr>
          <p:cNvGrpSpPr/>
          <p:nvPr userDrawn="1"/>
        </p:nvGrpSpPr>
        <p:grpSpPr>
          <a:xfrm>
            <a:off x="11094856" y="6244940"/>
            <a:ext cx="1098532" cy="613059"/>
            <a:chOff x="8965342" y="4231217"/>
            <a:chExt cx="1608171" cy="897474"/>
          </a:xfrm>
        </p:grpSpPr>
        <p:pic>
          <p:nvPicPr>
            <p:cNvPr id="6" name="Graphic 5">
              <a:extLst>
                <a:ext uri="{FF2B5EF4-FFF2-40B4-BE49-F238E27FC236}">
                  <a16:creationId xmlns:a16="http://schemas.microsoft.com/office/drawing/2014/main" id="{D9DAF80D-4D83-4EA4-3B9A-B4DEAA21CF4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321121" y="4418033"/>
              <a:ext cx="897474" cy="355817"/>
            </a:xfrm>
            <a:prstGeom prst="rect">
              <a:avLst/>
            </a:prstGeom>
          </p:spPr>
        </p:pic>
        <p:pic>
          <p:nvPicPr>
            <p:cNvPr id="11" name="Graphic 10" hidden="1">
              <a:extLst>
                <a:ext uri="{FF2B5EF4-FFF2-40B4-BE49-F238E27FC236}">
                  <a16:creationId xmlns:a16="http://schemas.microsoft.com/office/drawing/2014/main" id="{AA1B3EED-0A38-9B4D-C031-B7CFB1F16CD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321121" y="4772874"/>
              <a:ext cx="897474" cy="355817"/>
            </a:xfrm>
            <a:prstGeom prst="rect">
              <a:avLst/>
            </a:prstGeom>
          </p:spPr>
        </p:pic>
        <p:pic>
          <p:nvPicPr>
            <p:cNvPr id="12" name="Graphic 11" hidden="1">
              <a:extLst>
                <a:ext uri="{FF2B5EF4-FFF2-40B4-BE49-F238E27FC236}">
                  <a16:creationId xmlns:a16="http://schemas.microsoft.com/office/drawing/2014/main" id="{D8BA40FF-052F-CEA2-8570-24062BFE0A7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6200000">
              <a:off x="9946868" y="4502045"/>
              <a:ext cx="897474" cy="355817"/>
            </a:xfrm>
            <a:prstGeom prst="rect">
              <a:avLst/>
            </a:prstGeom>
          </p:spPr>
        </p:pic>
        <p:pic>
          <p:nvPicPr>
            <p:cNvPr id="13" name="Graphic 12" hidden="1">
              <a:extLst>
                <a:ext uri="{FF2B5EF4-FFF2-40B4-BE49-F238E27FC236}">
                  <a16:creationId xmlns:a16="http://schemas.microsoft.com/office/drawing/2014/main" id="{10305589-4F05-9658-71A7-2F6E7BFE952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6200000">
              <a:off x="8694514" y="4502045"/>
              <a:ext cx="897474" cy="355817"/>
            </a:xfrm>
            <a:prstGeom prst="rect">
              <a:avLst/>
            </a:prstGeom>
          </p:spPr>
        </p:pic>
      </p:grpSp>
      <p:pic>
        <p:nvPicPr>
          <p:cNvPr id="14" name="Graphic 13">
            <a:extLst>
              <a:ext uri="{FF2B5EF4-FFF2-40B4-BE49-F238E27FC236}">
                <a16:creationId xmlns:a16="http://schemas.microsoft.com/office/drawing/2014/main" id="{EEFE9B80-1CD0-9614-4D99-C0FA5B74A8B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41053" y="6372101"/>
            <a:ext cx="1630680" cy="247650"/>
          </a:xfrm>
          <a:prstGeom prst="rect">
            <a:avLst/>
          </a:prstGeom>
        </p:spPr>
      </p:pic>
    </p:spTree>
    <p:custDataLst>
      <p:tags r:id="rId1"/>
    </p:custDataLst>
    <p:extLst>
      <p:ext uri="{BB962C8B-B14F-4D97-AF65-F5344CB8AC3E}">
        <p14:creationId xmlns:p14="http://schemas.microsoft.com/office/powerpoint/2010/main" val="373615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p>
          <a:p>
            <a:pPr lvl="1"/>
            <a:r>
              <a:rPr lang="en-US"/>
              <a:t>Second level</a:t>
            </a:r>
          </a:p>
          <a:p>
            <a:pPr lvl="2"/>
            <a:r>
              <a:rPr lang="en-US"/>
              <a:t>Third level</a:t>
            </a:r>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97029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871343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793464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p>
        </p:txBody>
      </p:sp>
    </p:spTree>
    <p:extLst>
      <p:ext uri="{BB962C8B-B14F-4D97-AF65-F5344CB8AC3E}">
        <p14:creationId xmlns:p14="http://schemas.microsoft.com/office/powerpoint/2010/main" val="1173270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2_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246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13"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theme" Target="../theme/theme1.xml"/><Relationship Id="rId12" Type="http://schemas.openxmlformats.org/officeDocument/2006/relationships/image" Target="../media/image3.svg"/><Relationship Id="rId2" Type="http://schemas.openxmlformats.org/officeDocument/2006/relationships/slideLayout" Target="../slideLayouts/slideLayout2.xml"/><Relationship Id="rId16" Type="http://schemas.openxmlformats.org/officeDocument/2006/relationships/image" Target="../media/image7.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image" Target="../media/image6.png"/><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1.png"/><Relationship Id="rId14" Type="http://schemas.openxmlformats.org/officeDocument/2006/relationships/image" Target="../media/image5.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pic>
        <p:nvPicPr>
          <p:cNvPr id="12" name="Picture 11" descr="Text, logo&#10;&#10;Description automatically generated">
            <a:extLst>
              <a:ext uri="{FF2B5EF4-FFF2-40B4-BE49-F238E27FC236}">
                <a16:creationId xmlns:a16="http://schemas.microsoft.com/office/drawing/2014/main" id="{05161552-D656-B925-AB2F-4CA5F6FE7270}"/>
              </a:ext>
            </a:extLst>
          </p:cNvPr>
          <p:cNvPicPr>
            <a:picLocks noChangeAspect="1"/>
          </p:cNvPicPr>
          <p:nvPr userDrawn="1"/>
        </p:nvPicPr>
        <p:blipFill rotWithShape="1">
          <a:blip r:embed="rId9">
            <a:alphaModFix amt="5000"/>
            <a:extLst>
              <a:ext uri="{BEBA8EAE-BF5A-486C-A8C5-ECC9F3942E4B}">
                <a14:imgProps xmlns:a14="http://schemas.microsoft.com/office/drawing/2010/main">
                  <a14:imgLayer r:embed="rId10">
                    <a14:imgEffect>
                      <a14:saturation sat="155000"/>
                    </a14:imgEffect>
                    <a14:imgEffect>
                      <a14:brightnessContrast contrast="-77000"/>
                    </a14:imgEffect>
                  </a14:imgLayer>
                </a14:imgProps>
              </a:ext>
            </a:extLst>
          </a:blip>
          <a:srcRect l="-1923" r="70315"/>
          <a:stretch/>
        </p:blipFill>
        <p:spPr>
          <a:xfrm>
            <a:off x="3345127" y="1418811"/>
            <a:ext cx="5501746" cy="4826130"/>
          </a:xfrm>
          <a:prstGeom prst="rect">
            <a:avLst/>
          </a:prstGeom>
        </p:spPr>
      </p:pic>
      <p:sp>
        <p:nvSpPr>
          <p:cNvPr id="4" name="Rectangle 3">
            <a:extLst>
              <a:ext uri="{FF2B5EF4-FFF2-40B4-BE49-F238E27FC236}">
                <a16:creationId xmlns:a16="http://schemas.microsoft.com/office/drawing/2014/main" id="{AE377BDD-6725-68B2-639C-E47C9B4601F2}"/>
              </a:ext>
            </a:extLst>
          </p:cNvPr>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p>
        </p:txBody>
      </p:sp>
      <p:sp>
        <p:nvSpPr>
          <p:cNvPr id="5" name="Rectangle 4">
            <a:extLst>
              <a:ext uri="{FF2B5EF4-FFF2-40B4-BE49-F238E27FC236}">
                <a16:creationId xmlns:a16="http://schemas.microsoft.com/office/drawing/2014/main" id="{18771CE0-19C9-5FCF-1B71-ACF36DEE6664}"/>
              </a:ext>
            </a:extLst>
          </p:cNvPr>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p>
        </p:txBody>
      </p:sp>
      <p:sp>
        <p:nvSpPr>
          <p:cNvPr id="6" name="Rectangle 5">
            <a:extLst>
              <a:ext uri="{FF2B5EF4-FFF2-40B4-BE49-F238E27FC236}">
                <a16:creationId xmlns:a16="http://schemas.microsoft.com/office/drawing/2014/main" id="{832A3F44-3AAC-9557-E214-F323108F6B65}"/>
              </a:ext>
            </a:extLst>
          </p:cNvPr>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p>
        </p:txBody>
      </p:sp>
      <p:sp>
        <p:nvSpPr>
          <p:cNvPr id="9" name="Rectangle 8">
            <a:extLst>
              <a:ext uri="{FF2B5EF4-FFF2-40B4-BE49-F238E27FC236}">
                <a16:creationId xmlns:a16="http://schemas.microsoft.com/office/drawing/2014/main" id="{06EA0613-E945-E437-C733-F9F008F63B76}"/>
              </a:ext>
            </a:extLst>
          </p:cNvPr>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p>
        </p:txBody>
      </p:sp>
      <p:sp>
        <p:nvSpPr>
          <p:cNvPr id="10" name="TextBox 9">
            <a:extLst>
              <a:ext uri="{FF2B5EF4-FFF2-40B4-BE49-F238E27FC236}">
                <a16:creationId xmlns:a16="http://schemas.microsoft.com/office/drawing/2014/main" id="{F0EC5687-C25A-A73E-5192-674F560F89FA}"/>
              </a:ext>
            </a:extLst>
          </p:cNvPr>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a:extLst>
              <a:ext uri="{FF2B5EF4-FFF2-40B4-BE49-F238E27FC236}">
                <a16:creationId xmlns:a16="http://schemas.microsoft.com/office/drawing/2014/main" id="{C31F4021-33FE-506B-3C0D-688FEF669647}"/>
              </a:ext>
            </a:extLst>
          </p:cNvPr>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a:extLst>
              <a:ext uri="{FF2B5EF4-FFF2-40B4-BE49-F238E27FC236}">
                <a16:creationId xmlns:a16="http://schemas.microsoft.com/office/drawing/2014/main" id="{586B112C-C780-5B47-83AA-D580E668C866}"/>
              </a:ext>
            </a:extLst>
          </p:cNvPr>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a:extLst>
              <a:ext uri="{FF2B5EF4-FFF2-40B4-BE49-F238E27FC236}">
                <a16:creationId xmlns:a16="http://schemas.microsoft.com/office/drawing/2014/main" id="{D92FC597-9201-21C6-383D-67750826F14D}"/>
              </a:ext>
            </a:extLst>
          </p:cNvPr>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a:extLst>
              <a:ext uri="{FF2B5EF4-FFF2-40B4-BE49-F238E27FC236}">
                <a16:creationId xmlns:a16="http://schemas.microsoft.com/office/drawing/2014/main" id="{6B4A6D56-917B-72D3-81F7-A59A36FC4198}"/>
              </a:ext>
            </a:extLst>
          </p:cNvPr>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p>
        </p:txBody>
      </p:sp>
      <p:sp>
        <p:nvSpPr>
          <p:cNvPr id="17" name="Rectangle 16">
            <a:extLst>
              <a:ext uri="{FF2B5EF4-FFF2-40B4-BE49-F238E27FC236}">
                <a16:creationId xmlns:a16="http://schemas.microsoft.com/office/drawing/2014/main" id="{49512372-0859-45E3-8DD7-AE730B4AFD19}"/>
              </a:ext>
            </a:extLst>
          </p:cNvPr>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p>
        </p:txBody>
      </p:sp>
      <p:sp>
        <p:nvSpPr>
          <p:cNvPr id="18" name="Rectangle 17">
            <a:extLst>
              <a:ext uri="{FF2B5EF4-FFF2-40B4-BE49-F238E27FC236}">
                <a16:creationId xmlns:a16="http://schemas.microsoft.com/office/drawing/2014/main" id="{A4197D57-5F46-DB39-F81D-9205CC53189F}"/>
              </a:ext>
            </a:extLst>
          </p:cNvPr>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p>
        </p:txBody>
      </p:sp>
      <p:sp>
        <p:nvSpPr>
          <p:cNvPr id="19" name="Rectangle 18">
            <a:extLst>
              <a:ext uri="{FF2B5EF4-FFF2-40B4-BE49-F238E27FC236}">
                <a16:creationId xmlns:a16="http://schemas.microsoft.com/office/drawing/2014/main" id="{570AA9B1-D6E7-98E2-49EF-C98B6F0E7E2F}"/>
              </a:ext>
            </a:extLst>
          </p:cNvPr>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p>
        </p:txBody>
      </p:sp>
      <p:sp>
        <p:nvSpPr>
          <p:cNvPr id="20" name="TextBox 19">
            <a:extLst>
              <a:ext uri="{FF2B5EF4-FFF2-40B4-BE49-F238E27FC236}">
                <a16:creationId xmlns:a16="http://schemas.microsoft.com/office/drawing/2014/main" id="{B0A9DFA7-88D2-04F7-451C-7A2C388B178F}"/>
              </a:ext>
            </a:extLst>
          </p:cNvPr>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a:extLst>
              <a:ext uri="{FF2B5EF4-FFF2-40B4-BE49-F238E27FC236}">
                <a16:creationId xmlns:a16="http://schemas.microsoft.com/office/drawing/2014/main" id="{92C98F8E-1DCD-3647-3613-DFFC7CDFF372}"/>
              </a:ext>
            </a:extLst>
          </p:cNvPr>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a:extLst>
              <a:ext uri="{FF2B5EF4-FFF2-40B4-BE49-F238E27FC236}">
                <a16:creationId xmlns:a16="http://schemas.microsoft.com/office/drawing/2014/main" id="{129F1073-373D-249D-C1F2-A527EB0210C9}"/>
              </a:ext>
            </a:extLst>
          </p:cNvPr>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a:extLst>
              <a:ext uri="{FF2B5EF4-FFF2-40B4-BE49-F238E27FC236}">
                <a16:creationId xmlns:a16="http://schemas.microsoft.com/office/drawing/2014/main" id="{0D12B31A-8903-A616-B756-B8695FC8F38A}"/>
              </a:ext>
            </a:extLst>
          </p:cNvPr>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a:extLst>
              <a:ext uri="{FF2B5EF4-FFF2-40B4-BE49-F238E27FC236}">
                <a16:creationId xmlns:a16="http://schemas.microsoft.com/office/drawing/2014/main" id="{61892CDF-E500-AD18-C0DB-5405AF35ADE4}"/>
              </a:ext>
            </a:extLst>
          </p:cNvPr>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a:extLst>
              <a:ext uri="{FF2B5EF4-FFF2-40B4-BE49-F238E27FC236}">
                <a16:creationId xmlns:a16="http://schemas.microsoft.com/office/drawing/2014/main" id="{FACF072D-B1FC-4829-B71E-556F57965D46}"/>
              </a:ext>
            </a:extLst>
          </p:cNvPr>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a:extLst>
              <a:ext uri="{FF2B5EF4-FFF2-40B4-BE49-F238E27FC236}">
                <a16:creationId xmlns:a16="http://schemas.microsoft.com/office/drawing/2014/main" id="{398BBA60-CCFF-F95A-ECC9-46204EA2214B}"/>
              </a:ext>
            </a:extLst>
          </p:cNvPr>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p>
        </p:txBody>
      </p:sp>
      <p:sp>
        <p:nvSpPr>
          <p:cNvPr id="27" name="Rectangle 26">
            <a:extLst>
              <a:ext uri="{FF2B5EF4-FFF2-40B4-BE49-F238E27FC236}">
                <a16:creationId xmlns:a16="http://schemas.microsoft.com/office/drawing/2014/main" id="{63F05CFF-A449-FBB3-5F13-F7A72C2E43DE}"/>
              </a:ext>
            </a:extLst>
          </p:cNvPr>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p>
        </p:txBody>
      </p:sp>
      <p:sp>
        <p:nvSpPr>
          <p:cNvPr id="28" name="Rectangle 27">
            <a:extLst>
              <a:ext uri="{FF2B5EF4-FFF2-40B4-BE49-F238E27FC236}">
                <a16:creationId xmlns:a16="http://schemas.microsoft.com/office/drawing/2014/main" id="{A4895BC4-B52A-2D00-62C1-71A44604BBB4}"/>
              </a:ext>
            </a:extLst>
          </p:cNvPr>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p>
        </p:txBody>
      </p:sp>
      <p:sp>
        <p:nvSpPr>
          <p:cNvPr id="29" name="Rectangle 28">
            <a:extLst>
              <a:ext uri="{FF2B5EF4-FFF2-40B4-BE49-F238E27FC236}">
                <a16:creationId xmlns:a16="http://schemas.microsoft.com/office/drawing/2014/main" id="{F5B5B6C5-97CB-45FD-FDEC-1F5C2A0BDC3E}"/>
              </a:ext>
            </a:extLst>
          </p:cNvPr>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p>
        </p:txBody>
      </p:sp>
      <p:sp>
        <p:nvSpPr>
          <p:cNvPr id="30" name="TextBox 29">
            <a:extLst>
              <a:ext uri="{FF2B5EF4-FFF2-40B4-BE49-F238E27FC236}">
                <a16:creationId xmlns:a16="http://schemas.microsoft.com/office/drawing/2014/main" id="{94DCC439-D448-E0FC-26EF-94C7A8B8D0DB}"/>
              </a:ext>
            </a:extLst>
          </p:cNvPr>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a:extLst>
              <a:ext uri="{FF2B5EF4-FFF2-40B4-BE49-F238E27FC236}">
                <a16:creationId xmlns:a16="http://schemas.microsoft.com/office/drawing/2014/main" id="{004B7B48-2E66-50BA-96FE-D24C4E60BFD7}"/>
              </a:ext>
            </a:extLst>
          </p:cNvPr>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a:extLst>
              <a:ext uri="{FF2B5EF4-FFF2-40B4-BE49-F238E27FC236}">
                <a16:creationId xmlns:a16="http://schemas.microsoft.com/office/drawing/2014/main" id="{07C767BF-EB72-86A2-DBA6-0D26C6C02894}"/>
              </a:ext>
            </a:extLst>
          </p:cNvPr>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a:extLst>
              <a:ext uri="{FF2B5EF4-FFF2-40B4-BE49-F238E27FC236}">
                <a16:creationId xmlns:a16="http://schemas.microsoft.com/office/drawing/2014/main" id="{BFEDF829-6CB0-F03B-E025-85D510B4DC26}"/>
              </a:ext>
            </a:extLst>
          </p:cNvPr>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a:extLst>
              <a:ext uri="{FF2B5EF4-FFF2-40B4-BE49-F238E27FC236}">
                <a16:creationId xmlns:a16="http://schemas.microsoft.com/office/drawing/2014/main" id="{7FF97BF5-A64D-02F2-4B04-BC95CE39DF3F}"/>
              </a:ext>
            </a:extLst>
          </p:cNvPr>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#C1C7CD</a:t>
            </a:r>
          </a:p>
        </p:txBody>
      </p:sp>
      <p:sp>
        <p:nvSpPr>
          <p:cNvPr id="37" name="Rectangle 36">
            <a:extLst>
              <a:ext uri="{FF2B5EF4-FFF2-40B4-BE49-F238E27FC236}">
                <a16:creationId xmlns:a16="http://schemas.microsoft.com/office/drawing/2014/main" id="{63738F9B-27C5-3C49-8FD7-0731EE9AC3BF}"/>
              </a:ext>
            </a:extLst>
          </p:cNvPr>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#F2F4F8</a:t>
            </a:r>
          </a:p>
        </p:txBody>
      </p:sp>
      <p:sp>
        <p:nvSpPr>
          <p:cNvPr id="38" name="Rectangle 37">
            <a:extLst>
              <a:ext uri="{FF2B5EF4-FFF2-40B4-BE49-F238E27FC236}">
                <a16:creationId xmlns:a16="http://schemas.microsoft.com/office/drawing/2014/main" id="{A7194F16-D83C-3057-9151-A884EA8F0931}"/>
              </a:ext>
            </a:extLst>
          </p:cNvPr>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#BE95FF</a:t>
            </a:r>
          </a:p>
        </p:txBody>
      </p:sp>
      <p:sp>
        <p:nvSpPr>
          <p:cNvPr id="39" name="Rectangle 38">
            <a:extLst>
              <a:ext uri="{FF2B5EF4-FFF2-40B4-BE49-F238E27FC236}">
                <a16:creationId xmlns:a16="http://schemas.microsoft.com/office/drawing/2014/main" id="{80C7A661-0FF9-B849-2771-84AA24CF5EFF}"/>
              </a:ext>
            </a:extLst>
          </p:cNvPr>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#33B1FF</a:t>
            </a:r>
          </a:p>
        </p:txBody>
      </p:sp>
      <p:sp>
        <p:nvSpPr>
          <p:cNvPr id="42" name="Rectangle 41">
            <a:extLst>
              <a:ext uri="{FF2B5EF4-FFF2-40B4-BE49-F238E27FC236}">
                <a16:creationId xmlns:a16="http://schemas.microsoft.com/office/drawing/2014/main" id="{784675A9-3F9A-460D-D8D6-C5D9516859D4}"/>
              </a:ext>
            </a:extLst>
          </p:cNvPr>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#08BDBA</a:t>
            </a:r>
          </a:p>
        </p:txBody>
      </p:sp>
      <p:sp>
        <p:nvSpPr>
          <p:cNvPr id="43" name="Rectangle 42">
            <a:extLst>
              <a:ext uri="{FF2B5EF4-FFF2-40B4-BE49-F238E27FC236}">
                <a16:creationId xmlns:a16="http://schemas.microsoft.com/office/drawing/2014/main" id="{FD8C7787-7D0E-ED5D-DB99-53C4B52AA8F2}"/>
              </a:ext>
            </a:extLst>
          </p:cNvPr>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#78A9FF</a:t>
            </a:r>
          </a:p>
        </p:txBody>
      </p:sp>
      <p:sp>
        <p:nvSpPr>
          <p:cNvPr id="46" name="Rectangle 45">
            <a:extLst>
              <a:ext uri="{FF2B5EF4-FFF2-40B4-BE49-F238E27FC236}">
                <a16:creationId xmlns:a16="http://schemas.microsoft.com/office/drawing/2014/main" id="{20CCBF62-5F94-E366-51BD-6C8DCBF90955}"/>
              </a:ext>
            </a:extLst>
          </p:cNvPr>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p>
          <a:p>
            <a:pPr algn="ctr"/>
            <a:r>
              <a:rPr lang="en-US" dirty="0">
                <a:solidFill>
                  <a:schemeClr val="bg2"/>
                </a:solidFill>
                <a:latin typeface="IBM Plex Sans" panose="020B0503050203000203" pitchFamily="34" charset="0"/>
              </a:rPr>
              <a:t>#525252</a:t>
            </a:r>
          </a:p>
        </p:txBody>
      </p:sp>
      <p:sp>
        <p:nvSpPr>
          <p:cNvPr id="47" name="Rectangle 46">
            <a:extLst>
              <a:ext uri="{FF2B5EF4-FFF2-40B4-BE49-F238E27FC236}">
                <a16:creationId xmlns:a16="http://schemas.microsoft.com/office/drawing/2014/main" id="{E5880850-0EBA-AD14-E6FD-BB1DC94F3DA5}"/>
              </a:ext>
            </a:extLst>
          </p:cNvPr>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p>
          <a:p>
            <a:pPr algn="ctr"/>
            <a:r>
              <a:rPr lang="en-US" dirty="0">
                <a:solidFill>
                  <a:schemeClr val="bg2"/>
                </a:solidFill>
                <a:latin typeface="IBM Plex Sans" panose="020B0503050203000203" pitchFamily="34" charset="0"/>
              </a:rPr>
              <a:t>#262626</a:t>
            </a:r>
          </a:p>
        </p:txBody>
      </p:sp>
      <p:grpSp>
        <p:nvGrpSpPr>
          <p:cNvPr id="64" name="Group 63">
            <a:extLst>
              <a:ext uri="{FF2B5EF4-FFF2-40B4-BE49-F238E27FC236}">
                <a16:creationId xmlns:a16="http://schemas.microsoft.com/office/drawing/2014/main" id="{56209ACE-A4F7-EAC9-E98F-D141BE77F994}"/>
              </a:ext>
            </a:extLst>
          </p:cNvPr>
          <p:cNvGrpSpPr/>
          <p:nvPr userDrawn="1"/>
        </p:nvGrpSpPr>
        <p:grpSpPr>
          <a:xfrm>
            <a:off x="11094856" y="6244940"/>
            <a:ext cx="1098532" cy="613059"/>
            <a:chOff x="8965342" y="4231217"/>
            <a:chExt cx="1608171" cy="897474"/>
          </a:xfrm>
        </p:grpSpPr>
        <p:pic>
          <p:nvPicPr>
            <p:cNvPr id="60" name="Graphic 59">
              <a:extLst>
                <a:ext uri="{FF2B5EF4-FFF2-40B4-BE49-F238E27FC236}">
                  <a16:creationId xmlns:a16="http://schemas.microsoft.com/office/drawing/2014/main" id="{EFEE4105-67FB-F40B-E7BD-8C9B80C32F89}"/>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321121" y="4418033"/>
              <a:ext cx="897474" cy="355817"/>
            </a:xfrm>
            <a:prstGeom prst="rect">
              <a:avLst/>
            </a:prstGeom>
          </p:spPr>
        </p:pic>
        <p:pic>
          <p:nvPicPr>
            <p:cNvPr id="61" name="Graphic 60" hidden="1">
              <a:extLst>
                <a:ext uri="{FF2B5EF4-FFF2-40B4-BE49-F238E27FC236}">
                  <a16:creationId xmlns:a16="http://schemas.microsoft.com/office/drawing/2014/main" id="{9AB2407C-B3E2-DCDD-0692-DD32E3C45227}"/>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9321121" y="4772874"/>
              <a:ext cx="897474" cy="355817"/>
            </a:xfrm>
            <a:prstGeom prst="rect">
              <a:avLst/>
            </a:prstGeom>
          </p:spPr>
        </p:pic>
        <p:pic>
          <p:nvPicPr>
            <p:cNvPr id="62" name="Graphic 61" hidden="1">
              <a:extLst>
                <a:ext uri="{FF2B5EF4-FFF2-40B4-BE49-F238E27FC236}">
                  <a16:creationId xmlns:a16="http://schemas.microsoft.com/office/drawing/2014/main" id="{9128FFA9-E729-6051-FE44-5C57854D2B9B}"/>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9946868" y="4502045"/>
              <a:ext cx="897474" cy="355817"/>
            </a:xfrm>
            <a:prstGeom prst="rect">
              <a:avLst/>
            </a:prstGeom>
          </p:spPr>
        </p:pic>
        <p:pic>
          <p:nvPicPr>
            <p:cNvPr id="63" name="Graphic 62" hidden="1">
              <a:extLst>
                <a:ext uri="{FF2B5EF4-FFF2-40B4-BE49-F238E27FC236}">
                  <a16:creationId xmlns:a16="http://schemas.microsoft.com/office/drawing/2014/main" id="{21D1BE07-55D7-FEB6-D90F-FC214DFBDA4C}"/>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8694514" y="4502045"/>
              <a:ext cx="897474" cy="355817"/>
            </a:xfrm>
            <a:prstGeom prst="rect">
              <a:avLst/>
            </a:prstGeom>
          </p:spPr>
        </p:pic>
      </p:grpSp>
      <p:pic>
        <p:nvPicPr>
          <p:cNvPr id="66" name="Graphic 65">
            <a:extLst>
              <a:ext uri="{FF2B5EF4-FFF2-40B4-BE49-F238E27FC236}">
                <a16:creationId xmlns:a16="http://schemas.microsoft.com/office/drawing/2014/main" id="{FD0E63E5-36ED-0A5F-F2A0-E31AD11555EA}"/>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241053" y="6372101"/>
            <a:ext cx="1630680" cy="247650"/>
          </a:xfrm>
          <a:prstGeom prst="rect">
            <a:avLst/>
          </a:prstGeom>
        </p:spPr>
      </p:pic>
      <p:sp>
        <p:nvSpPr>
          <p:cNvPr id="67" name="Rectangle 66" hidden="1">
            <a:extLst>
              <a:ext uri="{FF2B5EF4-FFF2-40B4-BE49-F238E27FC236}">
                <a16:creationId xmlns:a16="http://schemas.microsoft.com/office/drawing/2014/main" id="{04EE5960-43EB-4B14-0782-2876BE85A607}"/>
              </a:ext>
            </a:extLst>
          </p:cNvPr>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8"/>
    </p:custDataLst>
    <p:extLst>
      <p:ext uri="{BB962C8B-B14F-4D97-AF65-F5344CB8AC3E}">
        <p14:creationId xmlns:p14="http://schemas.microsoft.com/office/powerpoint/2010/main" val="127044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 id="2147483673"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8.xml"/><Relationship Id="rId3" Type="http://schemas.openxmlformats.org/officeDocument/2006/relationships/image" Target="../media/image9.png"/><Relationship Id="rId7" Type="http://schemas.openxmlformats.org/officeDocument/2006/relationships/customXml" Target="../ink/ink3.xml"/><Relationship Id="rId12" Type="http://schemas.openxmlformats.org/officeDocument/2006/relationships/customXml" Target="../ink/ink7.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customXml" Target="../ink/ink2.xml"/><Relationship Id="rId11" Type="http://schemas.openxmlformats.org/officeDocument/2006/relationships/customXml" Target="../ink/ink6.xml"/><Relationship Id="rId5" Type="http://schemas.openxmlformats.org/officeDocument/2006/relationships/image" Target="../media/image10.png"/><Relationship Id="rId10" Type="http://schemas.openxmlformats.org/officeDocument/2006/relationships/customXml" Target="../ink/ink5.xml"/><Relationship Id="rId4" Type="http://schemas.openxmlformats.org/officeDocument/2006/relationships/customXml" Target="../ink/ink1.xml"/><Relationship Id="rId9" Type="http://schemas.openxmlformats.org/officeDocument/2006/relationships/image" Target="../media/image11.png"/><Relationship Id="rId14" Type="http://schemas.openxmlformats.org/officeDocument/2006/relationships/customXml" Target="../ink/ink9.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3.xml"/><Relationship Id="rId1" Type="http://schemas.openxmlformats.org/officeDocument/2006/relationships/tags" Target="../tags/tag12.xml"/><Relationship Id="rId4" Type="http://schemas.openxmlformats.org/officeDocument/2006/relationships/image" Target="../media/image16.sv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3.xml"/><Relationship Id="rId1" Type="http://schemas.openxmlformats.org/officeDocument/2006/relationships/tags" Target="../tags/tag15.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6.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3.xml"/><Relationship Id="rId1" Type="http://schemas.openxmlformats.org/officeDocument/2006/relationships/tags" Target="../tags/tag17.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3.xml"/><Relationship Id="rId1" Type="http://schemas.openxmlformats.org/officeDocument/2006/relationships/tags" Target="../tags/tag2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3.xml"/><Relationship Id="rId1" Type="http://schemas.openxmlformats.org/officeDocument/2006/relationships/tags" Target="../tags/tag23.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4.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3.xml"/><Relationship Id="rId1" Type="http://schemas.openxmlformats.org/officeDocument/2006/relationships/tags" Target="../tags/tag25.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6.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3.xml"/><Relationship Id="rId1" Type="http://schemas.openxmlformats.org/officeDocument/2006/relationships/tags" Target="../tags/tag27.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8.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3.xml"/><Relationship Id="rId1" Type="http://schemas.openxmlformats.org/officeDocument/2006/relationships/tags" Target="../tags/tag29.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3.xml"/><Relationship Id="rId1" Type="http://schemas.openxmlformats.org/officeDocument/2006/relationships/tags" Target="../tags/tag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5631-0297-E86E-7069-C969B141FD7D}"/>
              </a:ext>
            </a:extLst>
          </p:cNvPr>
          <p:cNvSpPr>
            <a:spLocks noGrp="1"/>
          </p:cNvSpPr>
          <p:nvPr>
            <p:ph type="title"/>
          </p:nvPr>
        </p:nvSpPr>
        <p:spPr>
          <a:xfrm>
            <a:off x="838200" y="552162"/>
            <a:ext cx="10515600" cy="611620"/>
          </a:xfrm>
        </p:spPr>
        <p:txBody>
          <a:bodyPr anchor="ctr">
            <a:noAutofit/>
          </a:bodyPr>
          <a:lstStyle/>
          <a:p>
            <a:r>
              <a:rPr lang="en-US" dirty="0"/>
              <a:t>Title: Data Analyst Capstone Project Report</a:t>
            </a:r>
          </a:p>
        </p:txBody>
      </p:sp>
      <p:sp>
        <p:nvSpPr>
          <p:cNvPr id="3" name="Subtitle 2">
            <a:extLst>
              <a:ext uri="{FF2B5EF4-FFF2-40B4-BE49-F238E27FC236}">
                <a16:creationId xmlns:a16="http://schemas.microsoft.com/office/drawing/2014/main" id="{59DF6B8D-2BAC-11F8-7D28-B631D08C8D90}"/>
              </a:ext>
            </a:extLst>
          </p:cNvPr>
          <p:cNvSpPr>
            <a:spLocks noGrp="1"/>
          </p:cNvSpPr>
          <p:nvPr>
            <p:ph sz="half" idx="1"/>
          </p:nvPr>
        </p:nvSpPr>
        <p:spPr>
          <a:xfrm>
            <a:off x="838200" y="1600200"/>
            <a:ext cx="4403103" cy="4572000"/>
          </a:xfrm>
        </p:spPr>
        <p:txBody>
          <a:bodyPr>
            <a:normAutofit/>
          </a:bodyPr>
          <a:lstStyle/>
          <a:p>
            <a:pPr marL="0" indent="0">
              <a:buNone/>
            </a:pPr>
            <a:r>
              <a:rPr lang="en-US" sz="2000" dirty="0">
                <a:solidFill>
                  <a:schemeClr val="bg1">
                    <a:lumMod val="75000"/>
                  </a:schemeClr>
                </a:solidFill>
                <a:latin typeface="IBM Plex Mono Medium" panose="020B0609050203000203" pitchFamily="49" charset="0"/>
              </a:rPr>
              <a:t>Learner Name: Aryan </a:t>
            </a:r>
            <a:r>
              <a:rPr lang="en-US" sz="2000" dirty="0" err="1">
                <a:solidFill>
                  <a:schemeClr val="bg1">
                    <a:lumMod val="75000"/>
                  </a:schemeClr>
                </a:solidFill>
                <a:latin typeface="IBM Plex Mono Medium" panose="020B0609050203000203" pitchFamily="49" charset="0"/>
              </a:rPr>
              <a:t>Awachat</a:t>
            </a:r>
            <a:endParaRPr lang="en-US" sz="2000" dirty="0">
              <a:solidFill>
                <a:schemeClr val="bg1">
                  <a:lumMod val="75000"/>
                </a:schemeClr>
              </a:solidFill>
              <a:latin typeface="IBM Plex Mono Medium" panose="020B0609050203000203" pitchFamily="49" charset="0"/>
            </a:endParaRPr>
          </a:p>
          <a:p>
            <a:pPr marL="0" indent="0">
              <a:buNone/>
            </a:pPr>
            <a:r>
              <a:rPr lang="en-US" sz="2000" dirty="0">
                <a:solidFill>
                  <a:schemeClr val="bg1">
                    <a:lumMod val="75000"/>
                  </a:schemeClr>
                </a:solidFill>
                <a:latin typeface="IBM Plex Mono Medium" panose="020B0609050203000203" pitchFamily="49" charset="0"/>
              </a:rPr>
              <a:t>Date: 15/06/2026</a:t>
            </a:r>
          </a:p>
          <a:p>
            <a:endParaRPr lang="en-US" dirty="0"/>
          </a:p>
        </p:txBody>
      </p:sp>
      <p:pic>
        <p:nvPicPr>
          <p:cNvPr id="4" name="Picture 3">
            <a:extLst>
              <a:ext uri="{FF2B5EF4-FFF2-40B4-BE49-F238E27FC236}">
                <a16:creationId xmlns:a16="http://schemas.microsoft.com/office/drawing/2014/main" id="{77323E2C-8982-861D-BE1D-3E30E5CC437C}"/>
              </a:ext>
            </a:extLst>
          </p:cNvPr>
          <p:cNvPicPr>
            <a:picLocks noChangeAspect="1"/>
          </p:cNvPicPr>
          <p:nvPr/>
        </p:nvPicPr>
        <p:blipFill>
          <a:blip r:embed="rId3"/>
          <a:stretch>
            <a:fillRect/>
          </a:stretch>
        </p:blipFill>
        <p:spPr>
          <a:xfrm>
            <a:off x="5689811" y="1600200"/>
            <a:ext cx="5038015" cy="4572000"/>
          </a:xfrm>
          <a:prstGeom prst="rect">
            <a:avLst/>
          </a:prstGeom>
          <a:noFill/>
        </p:spPr>
      </p:pic>
    </p:spTree>
    <p:custDataLst>
      <p:tags r:id="rId1"/>
    </p:custDataLst>
    <p:extLst>
      <p:ext uri="{BB962C8B-B14F-4D97-AF65-F5344CB8AC3E}">
        <p14:creationId xmlns:p14="http://schemas.microsoft.com/office/powerpoint/2010/main" val="4009730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3BC838-B25A-D37F-BC71-DD617895704C}"/>
              </a:ext>
            </a:extLst>
          </p:cNvPr>
          <p:cNvPicPr>
            <a:picLocks noChangeAspect="1"/>
          </p:cNvPicPr>
          <p:nvPr/>
        </p:nvPicPr>
        <p:blipFill>
          <a:blip r:embed="rId3"/>
          <a:stretch>
            <a:fillRect/>
          </a:stretch>
        </p:blipFill>
        <p:spPr>
          <a:xfrm>
            <a:off x="1450711" y="2025672"/>
            <a:ext cx="3194581" cy="3194581"/>
          </a:xfrm>
          <a:prstGeom prst="rect">
            <a:avLst/>
          </a:prstGeom>
        </p:spPr>
      </p:pic>
      <p:sp>
        <p:nvSpPr>
          <p:cNvPr id="9" name="Title 1">
            <a:extLst>
              <a:ext uri="{FF2B5EF4-FFF2-40B4-BE49-F238E27FC236}">
                <a16:creationId xmlns:a16="http://schemas.microsoft.com/office/drawing/2014/main" id="{EEC79264-7E04-A135-9158-F7EF333AC3D8}"/>
              </a:ext>
            </a:extLst>
          </p:cNvPr>
          <p:cNvSpPr txBox="1">
            <a:spLocks/>
          </p:cNvSpPr>
          <p:nvPr/>
        </p:nvSpPr>
        <p:spPr>
          <a:xfrm>
            <a:off x="782054" y="263810"/>
            <a:ext cx="850852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OUTLINE</a:t>
            </a:r>
            <a:endParaRPr lang="en-US" dirty="0"/>
          </a:p>
        </p:txBody>
      </p:sp>
      <p:sp>
        <p:nvSpPr>
          <p:cNvPr id="10" name="Content Placeholder 2">
            <a:extLst>
              <a:ext uri="{FF2B5EF4-FFF2-40B4-BE49-F238E27FC236}">
                <a16:creationId xmlns:a16="http://schemas.microsoft.com/office/drawing/2014/main" id="{79639434-C7DB-C6DD-28C9-5FE3588C5BC8}"/>
              </a:ext>
            </a:extLst>
          </p:cNvPr>
          <p:cNvSpPr txBox="1">
            <a:spLocks/>
          </p:cNvSpPr>
          <p:nvPr/>
        </p:nvSpPr>
        <p:spPr>
          <a:xfrm>
            <a:off x="6172200" y="1825625"/>
            <a:ext cx="5181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t>Executive Summary</a:t>
            </a:r>
          </a:p>
          <a:p>
            <a:r>
              <a:rPr lang="en-US" sz="2200" dirty="0"/>
              <a:t>Introduction</a:t>
            </a:r>
          </a:p>
          <a:p>
            <a:r>
              <a:rPr lang="en-US" sz="2200" dirty="0"/>
              <a:t>Methodology</a:t>
            </a:r>
          </a:p>
          <a:p>
            <a:r>
              <a:rPr lang="en-US" sz="2200" dirty="0"/>
              <a:t>Results</a:t>
            </a:r>
          </a:p>
          <a:p>
            <a:pPr lvl="1"/>
            <a:r>
              <a:rPr lang="en-US" sz="1800" dirty="0"/>
              <a:t>Visualization – Charts</a:t>
            </a:r>
          </a:p>
          <a:p>
            <a:pPr lvl="1"/>
            <a:r>
              <a:rPr lang="en-US" sz="1800" dirty="0"/>
              <a:t>Dashboard</a:t>
            </a:r>
          </a:p>
          <a:p>
            <a:r>
              <a:rPr lang="en-US" sz="2200" dirty="0"/>
              <a:t>Discussion</a:t>
            </a:r>
          </a:p>
          <a:p>
            <a:pPr lvl="1"/>
            <a:r>
              <a:rPr lang="en-US" sz="1800" dirty="0"/>
              <a:t>Findings &amp; Implications</a:t>
            </a:r>
          </a:p>
          <a:p>
            <a:r>
              <a:rPr lang="en-US" sz="2200" dirty="0"/>
              <a:t>Conclusion</a:t>
            </a:r>
          </a:p>
          <a:p>
            <a:r>
              <a:rPr lang="en-US" sz="2200" dirty="0"/>
              <a:t>Appendix</a:t>
            </a:r>
          </a:p>
        </p:txBody>
      </p:sp>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17992DA0-58E4-05C4-71CF-DD740B996440}"/>
                  </a:ext>
                </a:extLst>
              </p14:cNvPr>
              <p14:cNvContentPartPr/>
              <p14:nvPr/>
            </p14:nvContentPartPr>
            <p14:xfrm>
              <a:off x="1889280" y="999312"/>
              <a:ext cx="360" cy="360"/>
            </p14:xfrm>
          </p:contentPart>
        </mc:Choice>
        <mc:Fallback xmlns="">
          <p:pic>
            <p:nvPicPr>
              <p:cNvPr id="11" name="Ink 10">
                <a:extLst>
                  <a:ext uri="{FF2B5EF4-FFF2-40B4-BE49-F238E27FC236}">
                    <a16:creationId xmlns:a16="http://schemas.microsoft.com/office/drawing/2014/main" id="{17992DA0-58E4-05C4-71CF-DD740B996440}"/>
                  </a:ext>
                </a:extLst>
              </p:cNvPr>
              <p:cNvPicPr/>
              <p:nvPr/>
            </p:nvPicPr>
            <p:blipFill>
              <a:blip r:embed="rId5"/>
              <a:stretch>
                <a:fillRect/>
              </a:stretch>
            </p:blipFill>
            <p:spPr>
              <a:xfrm>
                <a:off x="1799280" y="81931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482A2257-403C-392A-475C-257A25E95802}"/>
                  </a:ext>
                </a:extLst>
              </p14:cNvPr>
              <p14:cNvContentPartPr/>
              <p14:nvPr/>
            </p14:nvContentPartPr>
            <p14:xfrm>
              <a:off x="2328120" y="962952"/>
              <a:ext cx="360" cy="360"/>
            </p14:xfrm>
          </p:contentPart>
        </mc:Choice>
        <mc:Fallback xmlns="">
          <p:pic>
            <p:nvPicPr>
              <p:cNvPr id="12" name="Ink 11">
                <a:extLst>
                  <a:ext uri="{FF2B5EF4-FFF2-40B4-BE49-F238E27FC236}">
                    <a16:creationId xmlns:a16="http://schemas.microsoft.com/office/drawing/2014/main" id="{482A2257-403C-392A-475C-257A25E95802}"/>
                  </a:ext>
                </a:extLst>
              </p:cNvPr>
              <p:cNvPicPr/>
              <p:nvPr/>
            </p:nvPicPr>
            <p:blipFill>
              <a:blip r:embed="rId5"/>
              <a:stretch>
                <a:fillRect/>
              </a:stretch>
            </p:blipFill>
            <p:spPr>
              <a:xfrm>
                <a:off x="2238120" y="782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D029E5DF-95C3-9324-3430-6C07411D941C}"/>
                  </a:ext>
                </a:extLst>
              </p14:cNvPr>
              <p14:cNvContentPartPr/>
              <p14:nvPr/>
            </p14:nvContentPartPr>
            <p14:xfrm>
              <a:off x="2828160" y="926232"/>
              <a:ext cx="360" cy="360"/>
            </p14:xfrm>
          </p:contentPart>
        </mc:Choice>
        <mc:Fallback xmlns="">
          <p:pic>
            <p:nvPicPr>
              <p:cNvPr id="13" name="Ink 12">
                <a:extLst>
                  <a:ext uri="{FF2B5EF4-FFF2-40B4-BE49-F238E27FC236}">
                    <a16:creationId xmlns:a16="http://schemas.microsoft.com/office/drawing/2014/main" id="{D029E5DF-95C3-9324-3430-6C07411D941C}"/>
                  </a:ext>
                </a:extLst>
              </p:cNvPr>
              <p:cNvPicPr/>
              <p:nvPr/>
            </p:nvPicPr>
            <p:blipFill>
              <a:blip r:embed="rId5"/>
              <a:stretch>
                <a:fillRect/>
              </a:stretch>
            </p:blipFill>
            <p:spPr>
              <a:xfrm>
                <a:off x="2738160" y="74623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51E65F16-DA3B-6993-F729-45193F9CF124}"/>
                  </a:ext>
                </a:extLst>
              </p14:cNvPr>
              <p14:cNvContentPartPr/>
              <p14:nvPr/>
            </p14:nvContentPartPr>
            <p14:xfrm>
              <a:off x="2828160" y="926232"/>
              <a:ext cx="3240" cy="5040"/>
            </p14:xfrm>
          </p:contentPart>
        </mc:Choice>
        <mc:Fallback xmlns="">
          <p:pic>
            <p:nvPicPr>
              <p:cNvPr id="14" name="Ink 13">
                <a:extLst>
                  <a:ext uri="{FF2B5EF4-FFF2-40B4-BE49-F238E27FC236}">
                    <a16:creationId xmlns:a16="http://schemas.microsoft.com/office/drawing/2014/main" id="{51E65F16-DA3B-6993-F729-45193F9CF124}"/>
                  </a:ext>
                </a:extLst>
              </p:cNvPr>
              <p:cNvPicPr/>
              <p:nvPr/>
            </p:nvPicPr>
            <p:blipFill>
              <a:blip r:embed="rId9"/>
              <a:stretch>
                <a:fillRect/>
              </a:stretch>
            </p:blipFill>
            <p:spPr>
              <a:xfrm>
                <a:off x="2738160" y="758232"/>
                <a:ext cx="182880" cy="34070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DA4954AB-7AA6-D07E-B72B-071B959556E6}"/>
                  </a:ext>
                </a:extLst>
              </p14:cNvPr>
              <p14:cNvContentPartPr/>
              <p14:nvPr/>
            </p14:nvContentPartPr>
            <p14:xfrm>
              <a:off x="7266240" y="2888952"/>
              <a:ext cx="360" cy="360"/>
            </p14:xfrm>
          </p:contentPart>
        </mc:Choice>
        <mc:Fallback xmlns="">
          <p:pic>
            <p:nvPicPr>
              <p:cNvPr id="15" name="Ink 14">
                <a:extLst>
                  <a:ext uri="{FF2B5EF4-FFF2-40B4-BE49-F238E27FC236}">
                    <a16:creationId xmlns:a16="http://schemas.microsoft.com/office/drawing/2014/main" id="{DA4954AB-7AA6-D07E-B72B-071B959556E6}"/>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4C9430D9-2989-125F-94DC-1DA2D66BDD55}"/>
                  </a:ext>
                </a:extLst>
              </p14:cNvPr>
              <p14:cNvContentPartPr/>
              <p14:nvPr/>
            </p14:nvContentPartPr>
            <p14:xfrm>
              <a:off x="7266240" y="2888952"/>
              <a:ext cx="360" cy="360"/>
            </p14:xfrm>
          </p:contentPart>
        </mc:Choice>
        <mc:Fallback xmlns="">
          <p:pic>
            <p:nvPicPr>
              <p:cNvPr id="16" name="Ink 15">
                <a:extLst>
                  <a:ext uri="{FF2B5EF4-FFF2-40B4-BE49-F238E27FC236}">
                    <a16:creationId xmlns:a16="http://schemas.microsoft.com/office/drawing/2014/main" id="{4C9430D9-2989-125F-94DC-1DA2D66BDD55}"/>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009380E8-5542-6CEB-DEF5-1F0E98FBDFC2}"/>
                  </a:ext>
                </a:extLst>
              </p14:cNvPr>
              <p14:cNvContentPartPr/>
              <p14:nvPr/>
            </p14:nvContentPartPr>
            <p14:xfrm>
              <a:off x="7266240" y="2888952"/>
              <a:ext cx="360" cy="360"/>
            </p14:xfrm>
          </p:contentPart>
        </mc:Choice>
        <mc:Fallback xmlns="">
          <p:pic>
            <p:nvPicPr>
              <p:cNvPr id="17" name="Ink 16">
                <a:extLst>
                  <a:ext uri="{FF2B5EF4-FFF2-40B4-BE49-F238E27FC236}">
                    <a16:creationId xmlns:a16="http://schemas.microsoft.com/office/drawing/2014/main" id="{009380E8-5542-6CEB-DEF5-1F0E98FBDFC2}"/>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73A9B50E-8658-465E-AEAA-D97CD87BB40D}"/>
                  </a:ext>
                </a:extLst>
              </p14:cNvPr>
              <p14:cNvContentPartPr/>
              <p14:nvPr/>
            </p14:nvContentPartPr>
            <p14:xfrm>
              <a:off x="7266240" y="2888952"/>
              <a:ext cx="360" cy="360"/>
            </p14:xfrm>
          </p:contentPart>
        </mc:Choice>
        <mc:Fallback xmlns="">
          <p:pic>
            <p:nvPicPr>
              <p:cNvPr id="18" name="Ink 17">
                <a:extLst>
                  <a:ext uri="{FF2B5EF4-FFF2-40B4-BE49-F238E27FC236}">
                    <a16:creationId xmlns:a16="http://schemas.microsoft.com/office/drawing/2014/main" id="{73A9B50E-8658-465E-AEAA-D97CD87BB40D}"/>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9" name="Ink 18">
                <a:extLst>
                  <a:ext uri="{FF2B5EF4-FFF2-40B4-BE49-F238E27FC236}">
                    <a16:creationId xmlns:a16="http://schemas.microsoft.com/office/drawing/2014/main" id="{329C95BA-F81E-F99B-4BF2-F62AECFA21A6}"/>
                  </a:ext>
                </a:extLst>
              </p14:cNvPr>
              <p14:cNvContentPartPr/>
              <p14:nvPr/>
            </p14:nvContentPartPr>
            <p14:xfrm>
              <a:off x="6680880" y="2877072"/>
              <a:ext cx="360" cy="360"/>
            </p14:xfrm>
          </p:contentPart>
        </mc:Choice>
        <mc:Fallback xmlns="">
          <p:pic>
            <p:nvPicPr>
              <p:cNvPr id="19" name="Ink 18">
                <a:extLst>
                  <a:ext uri="{FF2B5EF4-FFF2-40B4-BE49-F238E27FC236}">
                    <a16:creationId xmlns:a16="http://schemas.microsoft.com/office/drawing/2014/main" id="{329C95BA-F81E-F99B-4BF2-F62AECFA21A6}"/>
                  </a:ext>
                </a:extLst>
              </p:cNvPr>
              <p:cNvPicPr/>
              <p:nvPr/>
            </p:nvPicPr>
            <p:blipFill>
              <a:blip r:embed="rId5"/>
              <a:stretch>
                <a:fillRect/>
              </a:stretch>
            </p:blipFill>
            <p:spPr>
              <a:xfrm>
                <a:off x="6590880" y="2697072"/>
                <a:ext cx="180000" cy="360000"/>
              </a:xfrm>
              <a:prstGeom prst="rect">
                <a:avLst/>
              </a:prstGeom>
            </p:spPr>
          </p:pic>
        </mc:Fallback>
      </mc:AlternateContent>
    </p:spTree>
    <p:custDataLst>
      <p:tags r:id="rId1"/>
    </p:custDataLst>
    <p:extLst>
      <p:ext uri="{BB962C8B-B14F-4D97-AF65-F5344CB8AC3E}">
        <p14:creationId xmlns:p14="http://schemas.microsoft.com/office/powerpoint/2010/main" val="1453241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48DC5-8A48-2A34-31B9-FC8CB168CAED}"/>
              </a:ext>
            </a:extLst>
          </p:cNvPr>
          <p:cNvSpPr>
            <a:spLocks noGrp="1"/>
          </p:cNvSpPr>
          <p:nvPr>
            <p:ph type="title"/>
          </p:nvPr>
        </p:nvSpPr>
        <p:spPr>
          <a:xfrm>
            <a:off x="733926" y="304965"/>
            <a:ext cx="8565109" cy="1325563"/>
          </a:xfrm>
        </p:spPr>
        <p:txBody>
          <a:bodyPr anchor="ctr">
            <a:normAutofit/>
          </a:bodyPr>
          <a:lstStyle/>
          <a:p>
            <a:r>
              <a:rPr lang="en-US" dirty="0"/>
              <a:t>EXECUTIVE SUMMARY</a:t>
            </a:r>
          </a:p>
        </p:txBody>
      </p:sp>
      <p:sp>
        <p:nvSpPr>
          <p:cNvPr id="3" name="Content Placeholder 2">
            <a:extLst>
              <a:ext uri="{FF2B5EF4-FFF2-40B4-BE49-F238E27FC236}">
                <a16:creationId xmlns:a16="http://schemas.microsoft.com/office/drawing/2014/main" id="{06B44109-938A-7A63-C3A8-FDDB5C799EA5}"/>
              </a:ext>
            </a:extLst>
          </p:cNvPr>
          <p:cNvSpPr txBox="1">
            <a:spLocks/>
          </p:cNvSpPr>
          <p:nvPr/>
        </p:nvSpPr>
        <p:spPr>
          <a:xfrm>
            <a:off x="4185501" y="1630529"/>
            <a:ext cx="7357415" cy="45817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000" dirty="0"/>
              <a:t>This project analyzes current and future technology trends using data collected from APIs, web scraping, and developer survey datasets.</a:t>
            </a:r>
          </a:p>
          <a:p>
            <a:r>
              <a:rPr lang="en-US" sz="2000" dirty="0"/>
              <a:t>Key findings indicate that Python, JavaScript, SQL, and cloud technologies continue to dominate the technology landscape. PostgreSQL and MongoDB are emerging as highly preferred databases among developers.</a:t>
            </a:r>
          </a:p>
          <a:p>
            <a:r>
              <a:rPr lang="en-US" sz="2000" dirty="0"/>
              <a:t>Dashboard analysis reveals strong growth in data-related technologies, increasing demand for modern databases, and continued importance of programming skills across industries.</a:t>
            </a:r>
          </a:p>
          <a:p>
            <a:r>
              <a:rPr lang="en-US" sz="2000" dirty="0"/>
              <a:t>The results provide valuable insights for students, professionals, recruiters, and organizations seeking to align their skills and hiring strategies with industry demand</a:t>
            </a:r>
          </a:p>
        </p:txBody>
      </p:sp>
      <p:pic>
        <p:nvPicPr>
          <p:cNvPr id="7" name="Picture 6">
            <a:extLst>
              <a:ext uri="{FF2B5EF4-FFF2-40B4-BE49-F238E27FC236}">
                <a16:creationId xmlns:a16="http://schemas.microsoft.com/office/drawing/2014/main" id="{DA6795A9-FE70-B337-8B17-B79ACA60A9C1}"/>
              </a:ext>
            </a:extLst>
          </p:cNvPr>
          <p:cNvPicPr>
            <a:picLocks noChangeAspect="1"/>
          </p:cNvPicPr>
          <p:nvPr/>
        </p:nvPicPr>
        <p:blipFill>
          <a:blip r:embed="rId3"/>
          <a:stretch>
            <a:fillRect/>
          </a:stretch>
        </p:blipFill>
        <p:spPr>
          <a:xfrm>
            <a:off x="733926" y="2136507"/>
            <a:ext cx="3194581" cy="3194581"/>
          </a:xfrm>
          <a:prstGeom prst="rect">
            <a:avLst/>
          </a:prstGeom>
        </p:spPr>
      </p:pic>
    </p:spTree>
    <p:custDataLst>
      <p:tags r:id="rId1"/>
    </p:custDataLst>
    <p:extLst>
      <p:ext uri="{BB962C8B-B14F-4D97-AF65-F5344CB8AC3E}">
        <p14:creationId xmlns:p14="http://schemas.microsoft.com/office/powerpoint/2010/main" val="1555385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6FB0-8465-86A8-332A-32CC35A5D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7DC8D-244C-F7EC-5F66-ACB99A7D61C9}"/>
              </a:ext>
            </a:extLst>
          </p:cNvPr>
          <p:cNvSpPr>
            <a:spLocks noGrp="1"/>
          </p:cNvSpPr>
          <p:nvPr>
            <p:ph type="title"/>
          </p:nvPr>
        </p:nvSpPr>
        <p:spPr>
          <a:xfrm>
            <a:off x="770021" y="365125"/>
            <a:ext cx="7647865" cy="1325563"/>
          </a:xfrm>
        </p:spPr>
        <p:txBody>
          <a:bodyPr anchor="ctr">
            <a:normAutofit/>
          </a:bodyPr>
          <a:lstStyle/>
          <a:p>
            <a:r>
              <a:rPr lang="en-US" dirty="0"/>
              <a:t>INTRODUCTION</a:t>
            </a:r>
          </a:p>
        </p:txBody>
      </p:sp>
      <p:pic>
        <p:nvPicPr>
          <p:cNvPr id="3" name="Picture 2">
            <a:extLst>
              <a:ext uri="{FF2B5EF4-FFF2-40B4-BE49-F238E27FC236}">
                <a16:creationId xmlns:a16="http://schemas.microsoft.com/office/drawing/2014/main" id="{BBCC879F-E713-B75A-D2DE-0953EB0EA469}"/>
              </a:ext>
            </a:extLst>
          </p:cNvPr>
          <p:cNvPicPr>
            <a:picLocks noChangeAspect="1"/>
          </p:cNvPicPr>
          <p:nvPr/>
        </p:nvPicPr>
        <p:blipFill>
          <a:blip r:embed="rId3"/>
          <a:stretch>
            <a:fillRect/>
          </a:stretch>
        </p:blipFill>
        <p:spPr>
          <a:xfrm>
            <a:off x="994347" y="2262036"/>
            <a:ext cx="3054361" cy="3054361"/>
          </a:xfrm>
          <a:prstGeom prst="rect">
            <a:avLst/>
          </a:prstGeom>
        </p:spPr>
      </p:pic>
      <p:sp>
        <p:nvSpPr>
          <p:cNvPr id="4" name="Content Placeholder 2">
            <a:extLst>
              <a:ext uri="{FF2B5EF4-FFF2-40B4-BE49-F238E27FC236}">
                <a16:creationId xmlns:a16="http://schemas.microsoft.com/office/drawing/2014/main" id="{ED35578F-30C9-4905-FD4E-7366FEFAEA7F}"/>
              </a:ext>
            </a:extLst>
          </p:cNvPr>
          <p:cNvSpPr txBox="1">
            <a:spLocks/>
          </p:cNvSpPr>
          <p:nvPr/>
        </p:nvSpPr>
        <p:spPr>
          <a:xfrm>
            <a:off x="4285075" y="1510949"/>
            <a:ext cx="6912578" cy="504177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800" b="1" dirty="0">
                <a:solidFill>
                  <a:schemeClr val="tx1"/>
                </a:solidFill>
              </a:rPr>
              <a:t>Purpose</a:t>
            </a:r>
          </a:p>
          <a:p>
            <a:r>
              <a:rPr lang="en-US" sz="1800" dirty="0">
                <a:solidFill>
                  <a:schemeClr val="tx1"/>
                </a:solidFill>
              </a:rPr>
              <a:t>To identify current and future technology trends through data analysis and visualization.</a:t>
            </a:r>
          </a:p>
          <a:p>
            <a:r>
              <a:rPr lang="en-US" sz="1800" b="1" dirty="0">
                <a:solidFill>
                  <a:schemeClr val="tx1"/>
                </a:solidFill>
              </a:rPr>
              <a:t>Target Audience</a:t>
            </a:r>
          </a:p>
          <a:p>
            <a:r>
              <a:rPr lang="en-US" sz="1800" dirty="0">
                <a:solidFill>
                  <a:schemeClr val="tx1"/>
                </a:solidFill>
              </a:rPr>
              <a:t>Students </a:t>
            </a:r>
          </a:p>
          <a:p>
            <a:r>
              <a:rPr lang="en-US" sz="1800" dirty="0">
                <a:solidFill>
                  <a:schemeClr val="tx1"/>
                </a:solidFill>
              </a:rPr>
              <a:t>Data Analysts </a:t>
            </a:r>
          </a:p>
          <a:p>
            <a:r>
              <a:rPr lang="en-US" sz="1800" dirty="0">
                <a:solidFill>
                  <a:schemeClr val="tx1"/>
                </a:solidFill>
              </a:rPr>
              <a:t>Software Developers </a:t>
            </a:r>
          </a:p>
          <a:p>
            <a:r>
              <a:rPr lang="en-US" sz="1800" dirty="0">
                <a:solidFill>
                  <a:schemeClr val="tx1"/>
                </a:solidFill>
              </a:rPr>
              <a:t>Recruiters </a:t>
            </a:r>
          </a:p>
          <a:p>
            <a:r>
              <a:rPr lang="en-US" sz="1800" dirty="0">
                <a:solidFill>
                  <a:schemeClr val="tx1"/>
                </a:solidFill>
              </a:rPr>
              <a:t>Technology Managers </a:t>
            </a:r>
          </a:p>
          <a:p>
            <a:r>
              <a:rPr lang="en-US" sz="1800" b="1" dirty="0">
                <a:solidFill>
                  <a:schemeClr val="tx1"/>
                </a:solidFill>
              </a:rPr>
              <a:t>Business Value</a:t>
            </a:r>
          </a:p>
          <a:p>
            <a:r>
              <a:rPr lang="en-US" sz="1800" dirty="0">
                <a:solidFill>
                  <a:schemeClr val="tx1"/>
                </a:solidFill>
              </a:rPr>
              <a:t>Understand market demand </a:t>
            </a:r>
          </a:p>
          <a:p>
            <a:r>
              <a:rPr lang="en-US" sz="1800" dirty="0">
                <a:solidFill>
                  <a:schemeClr val="tx1"/>
                </a:solidFill>
              </a:rPr>
              <a:t>Identify emerging technologies </a:t>
            </a:r>
          </a:p>
          <a:p>
            <a:r>
              <a:rPr lang="en-US" sz="1800" dirty="0">
                <a:solidFill>
                  <a:schemeClr val="tx1"/>
                </a:solidFill>
              </a:rPr>
              <a:t>Support career planning </a:t>
            </a:r>
          </a:p>
          <a:p>
            <a:r>
              <a:rPr lang="en-US" sz="1800" dirty="0">
                <a:solidFill>
                  <a:schemeClr val="tx1"/>
                </a:solidFill>
              </a:rPr>
              <a:t>Guide organizational technology decisions</a:t>
            </a:r>
          </a:p>
        </p:txBody>
      </p:sp>
    </p:spTree>
    <p:custDataLst>
      <p:tags r:id="rId1"/>
    </p:custDataLst>
    <p:extLst>
      <p:ext uri="{BB962C8B-B14F-4D97-AF65-F5344CB8AC3E}">
        <p14:creationId xmlns:p14="http://schemas.microsoft.com/office/powerpoint/2010/main" val="2040863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1DCFD-8450-17AD-05D4-229BA1C66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AB7E7-7534-10CB-A359-88015C285B97}"/>
              </a:ext>
            </a:extLst>
          </p:cNvPr>
          <p:cNvSpPr>
            <a:spLocks noGrp="1"/>
          </p:cNvSpPr>
          <p:nvPr>
            <p:ph type="title"/>
          </p:nvPr>
        </p:nvSpPr>
        <p:spPr>
          <a:xfrm>
            <a:off x="782053" y="681037"/>
            <a:ext cx="10571747" cy="685799"/>
          </a:xfrm>
        </p:spPr>
        <p:txBody>
          <a:bodyPr anchor="ctr">
            <a:normAutofit/>
          </a:bodyPr>
          <a:lstStyle/>
          <a:p>
            <a:r>
              <a:rPr lang="en-US" dirty="0"/>
              <a:t>METHODOLOGY</a:t>
            </a:r>
          </a:p>
        </p:txBody>
      </p:sp>
      <p:sp>
        <p:nvSpPr>
          <p:cNvPr id="3" name="Content Placeholder 2">
            <a:extLst>
              <a:ext uri="{FF2B5EF4-FFF2-40B4-BE49-F238E27FC236}">
                <a16:creationId xmlns:a16="http://schemas.microsoft.com/office/drawing/2014/main" id="{5EF8C842-232A-AE37-3471-90353781809D}"/>
              </a:ext>
            </a:extLst>
          </p:cNvPr>
          <p:cNvSpPr txBox="1">
            <a:spLocks/>
          </p:cNvSpPr>
          <p:nvPr/>
        </p:nvSpPr>
        <p:spPr>
          <a:xfrm>
            <a:off x="4266487" y="1710839"/>
            <a:ext cx="3284383" cy="39169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IN" sz="1800" b="1" dirty="0"/>
              <a:t>Data Sources</a:t>
            </a:r>
          </a:p>
          <a:p>
            <a:r>
              <a:rPr lang="en-IN" sz="1800" dirty="0"/>
              <a:t>Job Posting API </a:t>
            </a:r>
          </a:p>
          <a:p>
            <a:r>
              <a:rPr lang="en-IN" sz="1800" dirty="0"/>
              <a:t>Web Scraped Salary Data </a:t>
            </a:r>
          </a:p>
          <a:p>
            <a:r>
              <a:rPr lang="en-IN" sz="1800" dirty="0"/>
              <a:t>Stack Overflow Developer Survey Dataset </a:t>
            </a:r>
          </a:p>
          <a:p>
            <a:r>
              <a:rPr lang="en-IN" sz="1800" b="1" dirty="0"/>
              <a:t>Data Collection</a:t>
            </a:r>
          </a:p>
          <a:p>
            <a:r>
              <a:rPr lang="en-IN" sz="1800" dirty="0"/>
              <a:t>API requests using Python </a:t>
            </a:r>
          </a:p>
          <a:p>
            <a:r>
              <a:rPr lang="en-IN" sz="1800" dirty="0"/>
              <a:t>HTML scraping using </a:t>
            </a:r>
            <a:r>
              <a:rPr lang="en-IN" sz="1800" dirty="0" err="1"/>
              <a:t>BeautifulSoup</a:t>
            </a:r>
            <a:r>
              <a:rPr lang="en-IN" sz="1800" dirty="0"/>
              <a:t> </a:t>
            </a:r>
          </a:p>
          <a:p>
            <a:r>
              <a:rPr lang="en-IN" sz="1800" dirty="0"/>
              <a:t>Survey data extraction </a:t>
            </a:r>
          </a:p>
          <a:p>
            <a:endParaRPr lang="en-IN" sz="1100" dirty="0"/>
          </a:p>
        </p:txBody>
      </p:sp>
      <p:pic>
        <p:nvPicPr>
          <p:cNvPr id="4" name="Picture 3">
            <a:extLst>
              <a:ext uri="{FF2B5EF4-FFF2-40B4-BE49-F238E27FC236}">
                <a16:creationId xmlns:a16="http://schemas.microsoft.com/office/drawing/2014/main" id="{280CF71F-8A03-DAC7-4BC2-F05644ECBFFF}"/>
              </a:ext>
            </a:extLst>
          </p:cNvPr>
          <p:cNvPicPr>
            <a:picLocks noChangeAspect="1"/>
          </p:cNvPicPr>
          <p:nvPr/>
        </p:nvPicPr>
        <p:blipFill>
          <a:blip r:embed="rId3"/>
          <a:stretch>
            <a:fillRect/>
          </a:stretch>
        </p:blipFill>
        <p:spPr>
          <a:xfrm>
            <a:off x="979655" y="1831709"/>
            <a:ext cx="3194581" cy="3194581"/>
          </a:xfrm>
          <a:prstGeom prst="rect">
            <a:avLst/>
          </a:prstGeom>
        </p:spPr>
      </p:pic>
      <p:sp>
        <p:nvSpPr>
          <p:cNvPr id="5" name="TextBox 4">
            <a:extLst>
              <a:ext uri="{FF2B5EF4-FFF2-40B4-BE49-F238E27FC236}">
                <a16:creationId xmlns:a16="http://schemas.microsoft.com/office/drawing/2014/main" id="{139DDCBB-F4A0-6304-E5C3-EA3E8E8EADD8}"/>
              </a:ext>
            </a:extLst>
          </p:cNvPr>
          <p:cNvSpPr txBox="1"/>
          <p:nvPr/>
        </p:nvSpPr>
        <p:spPr>
          <a:xfrm>
            <a:off x="7814823" y="1713748"/>
            <a:ext cx="3968684" cy="3139321"/>
          </a:xfrm>
          <a:prstGeom prst="rect">
            <a:avLst/>
          </a:prstGeom>
          <a:noFill/>
        </p:spPr>
        <p:txBody>
          <a:bodyPr wrap="square" rtlCol="0">
            <a:spAutoFit/>
          </a:bodyPr>
          <a:lstStyle/>
          <a:p>
            <a:pPr marL="285750" indent="-285750">
              <a:buFont typeface="Arial" panose="020B0604020202020204" pitchFamily="34" charset="0"/>
              <a:buChar char="•"/>
            </a:pPr>
            <a:r>
              <a:rPr lang="en-IN" b="1" dirty="0"/>
              <a:t>Data Cleaning</a:t>
            </a:r>
          </a:p>
          <a:p>
            <a:pPr marL="285750" indent="-285750">
              <a:buFont typeface="Arial" panose="020B0604020202020204" pitchFamily="34" charset="0"/>
              <a:buChar char="•"/>
            </a:pPr>
            <a:r>
              <a:rPr lang="en-IN" dirty="0"/>
              <a:t>Removed duplicate records </a:t>
            </a:r>
          </a:p>
          <a:p>
            <a:pPr marL="285750" indent="-285750">
              <a:buFont typeface="Arial" panose="020B0604020202020204" pitchFamily="34" charset="0"/>
              <a:buChar char="•"/>
            </a:pPr>
            <a:r>
              <a:rPr lang="en-IN" dirty="0"/>
              <a:t>Handled missing values </a:t>
            </a:r>
          </a:p>
          <a:p>
            <a:pPr marL="285750" indent="-285750">
              <a:buFont typeface="Arial" panose="020B0604020202020204" pitchFamily="34" charset="0"/>
              <a:buChar char="•"/>
            </a:pPr>
            <a:r>
              <a:rPr lang="en-IN" dirty="0"/>
              <a:t>Standardized variables </a:t>
            </a:r>
          </a:p>
          <a:p>
            <a:pPr marL="285750" indent="-285750">
              <a:buFont typeface="Arial" panose="020B0604020202020204" pitchFamily="34" charset="0"/>
              <a:buChar char="•"/>
            </a:pPr>
            <a:r>
              <a:rPr lang="en-IN" b="1" dirty="0"/>
              <a:t>Tools Used</a:t>
            </a:r>
          </a:p>
          <a:p>
            <a:pPr marL="285750" indent="-285750">
              <a:buFont typeface="Arial" panose="020B0604020202020204" pitchFamily="34" charset="0"/>
              <a:buChar char="•"/>
            </a:pPr>
            <a:r>
              <a:rPr lang="en-IN" dirty="0"/>
              <a:t>Python </a:t>
            </a:r>
          </a:p>
          <a:p>
            <a:pPr marL="285750" indent="-285750">
              <a:buFont typeface="Arial" panose="020B0604020202020204" pitchFamily="34" charset="0"/>
              <a:buChar char="•"/>
            </a:pPr>
            <a:r>
              <a:rPr lang="en-IN" dirty="0"/>
              <a:t>Pandas </a:t>
            </a:r>
          </a:p>
          <a:p>
            <a:pPr marL="285750" indent="-285750">
              <a:buFont typeface="Arial" panose="020B0604020202020204" pitchFamily="34" charset="0"/>
              <a:buChar char="•"/>
            </a:pPr>
            <a:r>
              <a:rPr lang="en-IN" dirty="0"/>
              <a:t>Matplotlib </a:t>
            </a:r>
          </a:p>
          <a:p>
            <a:pPr marL="285750" indent="-285750">
              <a:buFont typeface="Arial" panose="020B0604020202020204" pitchFamily="34" charset="0"/>
              <a:buChar char="•"/>
            </a:pPr>
            <a:r>
              <a:rPr lang="en-IN" dirty="0"/>
              <a:t>Seaborn </a:t>
            </a:r>
          </a:p>
          <a:p>
            <a:pPr marL="285750" indent="-285750">
              <a:buFont typeface="Arial" panose="020B0604020202020204" pitchFamily="34" charset="0"/>
              <a:buChar char="•"/>
            </a:pPr>
            <a:r>
              <a:rPr lang="en-IN" dirty="0" err="1"/>
              <a:t>Plotly</a:t>
            </a:r>
            <a:r>
              <a:rPr lang="en-IN" dirty="0"/>
              <a:t> </a:t>
            </a:r>
          </a:p>
          <a:p>
            <a:pPr marL="285750" indent="-285750">
              <a:buFont typeface="Arial" panose="020B0604020202020204" pitchFamily="34" charset="0"/>
              <a:buChar char="•"/>
            </a:pPr>
            <a:r>
              <a:rPr lang="en-IN" dirty="0"/>
              <a:t>IBM Cognos Analytics</a:t>
            </a:r>
          </a:p>
        </p:txBody>
      </p:sp>
    </p:spTree>
    <p:custDataLst>
      <p:tags r:id="rId1"/>
    </p:custDataLst>
    <p:extLst>
      <p:ext uri="{BB962C8B-B14F-4D97-AF65-F5344CB8AC3E}">
        <p14:creationId xmlns:p14="http://schemas.microsoft.com/office/powerpoint/2010/main" val="3791692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47B35-92B8-C737-3DEB-4A57887A19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9CC39-D393-D59D-E066-37C17FD3C522}"/>
              </a:ext>
            </a:extLst>
          </p:cNvPr>
          <p:cNvSpPr>
            <a:spLocks noGrp="1"/>
          </p:cNvSpPr>
          <p:nvPr>
            <p:ph type="title"/>
          </p:nvPr>
        </p:nvSpPr>
        <p:spPr>
          <a:xfrm>
            <a:off x="782053" y="398033"/>
            <a:ext cx="10571747" cy="1091735"/>
          </a:xfrm>
        </p:spPr>
        <p:txBody>
          <a:bodyPr anchor="ctr">
            <a:normAutofit/>
          </a:bodyPr>
          <a:lstStyle/>
          <a:p>
            <a:r>
              <a:rPr lang="en-US" dirty="0"/>
              <a:t>Results</a:t>
            </a:r>
          </a:p>
        </p:txBody>
      </p:sp>
      <p:sp>
        <p:nvSpPr>
          <p:cNvPr id="3" name="Content Placeholder 2">
            <a:extLst>
              <a:ext uri="{FF2B5EF4-FFF2-40B4-BE49-F238E27FC236}">
                <a16:creationId xmlns:a16="http://schemas.microsoft.com/office/drawing/2014/main" id="{E000DDB6-5B82-F3F8-80C1-FE555825BAF5}"/>
              </a:ext>
            </a:extLst>
          </p:cNvPr>
          <p:cNvSpPr txBox="1">
            <a:spLocks/>
          </p:cNvSpPr>
          <p:nvPr/>
        </p:nvSpPr>
        <p:spPr>
          <a:xfrm>
            <a:off x="4285075" y="1680153"/>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p>
        </p:txBody>
      </p:sp>
      <p:pic>
        <p:nvPicPr>
          <p:cNvPr id="6" name="Graphic 5" descr="Presentation with pie chart with solid fill">
            <a:extLst>
              <a:ext uri="{FF2B5EF4-FFF2-40B4-BE49-F238E27FC236}">
                <a16:creationId xmlns:a16="http://schemas.microsoft.com/office/drawing/2014/main" id="{1D5615A7-55B9-E0F5-0A84-57A35A57B05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9468" y="2101175"/>
            <a:ext cx="2972979" cy="2972979"/>
          </a:xfrm>
          <a:prstGeom prst="rect">
            <a:avLst/>
          </a:prstGeom>
        </p:spPr>
      </p:pic>
      <p:sp>
        <p:nvSpPr>
          <p:cNvPr id="8" name="TextBox 7">
            <a:extLst>
              <a:ext uri="{FF2B5EF4-FFF2-40B4-BE49-F238E27FC236}">
                <a16:creationId xmlns:a16="http://schemas.microsoft.com/office/drawing/2014/main" id="{9C6D1E5C-FB56-616C-9776-6EF59DA07045}"/>
              </a:ext>
            </a:extLst>
          </p:cNvPr>
          <p:cNvSpPr txBox="1"/>
          <p:nvPr/>
        </p:nvSpPr>
        <p:spPr>
          <a:xfrm>
            <a:off x="3818965" y="3126000"/>
            <a:ext cx="7413336" cy="461665"/>
          </a:xfrm>
          <a:prstGeom prst="rect">
            <a:avLst/>
          </a:prstGeom>
          <a:noFill/>
        </p:spPr>
        <p:txBody>
          <a:bodyPr wrap="square">
            <a:spAutoFit/>
          </a:bodyPr>
          <a:lstStyle/>
          <a:p>
            <a:pPr marL="0" indent="0">
              <a:buFont typeface="Arial"/>
              <a:buNone/>
            </a:pPr>
            <a:r>
              <a:rPr lang="en-US" sz="2400" dirty="0"/>
              <a:t>&lt;Please present your results in the following slides.&gt;</a:t>
            </a:r>
          </a:p>
        </p:txBody>
      </p:sp>
    </p:spTree>
    <p:custDataLst>
      <p:tags r:id="rId1"/>
    </p:custDataLst>
    <p:extLst>
      <p:ext uri="{BB962C8B-B14F-4D97-AF65-F5344CB8AC3E}">
        <p14:creationId xmlns:p14="http://schemas.microsoft.com/office/powerpoint/2010/main" val="1501327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C4E31-32FC-4A23-CEF9-98F0BB9F13E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334EF5D-2E2A-7FE5-06C6-01ACAB1F420F}"/>
              </a:ext>
            </a:extLst>
          </p:cNvPr>
          <p:cNvSpPr>
            <a:spLocks noGrp="1"/>
          </p:cNvSpPr>
          <p:nvPr>
            <p:ph type="title"/>
          </p:nvPr>
        </p:nvSpPr>
        <p:spPr>
          <a:xfrm>
            <a:off x="633845" y="383051"/>
            <a:ext cx="5833456" cy="1325563"/>
          </a:xfrm>
        </p:spPr>
        <p:txBody>
          <a:bodyPr anchor="ctr">
            <a:normAutofit/>
          </a:bodyPr>
          <a:lstStyle/>
          <a:p>
            <a:r>
              <a:rPr lang="en-US" dirty="0"/>
              <a:t> JOB POSTINGS</a:t>
            </a:r>
          </a:p>
        </p:txBody>
      </p:sp>
      <p:sp>
        <p:nvSpPr>
          <p:cNvPr id="10" name="Content Placeholder 2">
            <a:extLst>
              <a:ext uri="{FF2B5EF4-FFF2-40B4-BE49-F238E27FC236}">
                <a16:creationId xmlns:a16="http://schemas.microsoft.com/office/drawing/2014/main" id="{83F79416-0AFB-FC80-07E8-3CF2B4E7E798}"/>
              </a:ext>
            </a:extLst>
          </p:cNvPr>
          <p:cNvSpPr txBox="1">
            <a:spLocks/>
          </p:cNvSpPr>
          <p:nvPr/>
        </p:nvSpPr>
        <p:spPr>
          <a:xfrm>
            <a:off x="851362" y="1581985"/>
            <a:ext cx="10489276" cy="1048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200" dirty="0"/>
              <a:t>In Module 1 you have collected the job posting data using Job API in a file named “</a:t>
            </a:r>
            <a:r>
              <a:rPr lang="en-IN" sz="2400" dirty="0"/>
              <a:t>job-postings.xlsx</a:t>
            </a:r>
            <a:r>
              <a:rPr lang="en-US" sz="2200" dirty="0"/>
              <a:t>”. Present that data using a bar chart here. Order the bar chart in the descending order of the number of job postings.</a:t>
            </a:r>
          </a:p>
        </p:txBody>
      </p:sp>
      <p:pic>
        <p:nvPicPr>
          <p:cNvPr id="4" name="Picture 3">
            <a:extLst>
              <a:ext uri="{FF2B5EF4-FFF2-40B4-BE49-F238E27FC236}">
                <a16:creationId xmlns:a16="http://schemas.microsoft.com/office/drawing/2014/main" id="{B3D1CCC9-8998-212F-1338-455CF5EF4E31}"/>
              </a:ext>
            </a:extLst>
          </p:cNvPr>
          <p:cNvPicPr>
            <a:picLocks noChangeAspect="1"/>
          </p:cNvPicPr>
          <p:nvPr/>
        </p:nvPicPr>
        <p:blipFill>
          <a:blip r:embed="rId3"/>
          <a:stretch>
            <a:fillRect/>
          </a:stretch>
        </p:blipFill>
        <p:spPr>
          <a:xfrm>
            <a:off x="2889828" y="2630078"/>
            <a:ext cx="6097846" cy="3629320"/>
          </a:xfrm>
          <a:prstGeom prst="rect">
            <a:avLst/>
          </a:prstGeom>
        </p:spPr>
      </p:pic>
    </p:spTree>
    <p:custDataLst>
      <p:tags r:id="rId1"/>
    </p:custDataLst>
    <p:extLst>
      <p:ext uri="{BB962C8B-B14F-4D97-AF65-F5344CB8AC3E}">
        <p14:creationId xmlns:p14="http://schemas.microsoft.com/office/powerpoint/2010/main" val="1935373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B558-7141-B0CE-D399-712C1073BFD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2CF5900-71B3-70B0-7CF1-4A1C535AD04B}"/>
              </a:ext>
            </a:extLst>
          </p:cNvPr>
          <p:cNvSpPr>
            <a:spLocks noGrp="1"/>
          </p:cNvSpPr>
          <p:nvPr>
            <p:ph type="title"/>
          </p:nvPr>
        </p:nvSpPr>
        <p:spPr>
          <a:xfrm>
            <a:off x="758536" y="383051"/>
            <a:ext cx="5708765" cy="1325563"/>
          </a:xfrm>
        </p:spPr>
        <p:txBody>
          <a:bodyPr anchor="ctr">
            <a:normAutofit/>
          </a:bodyPr>
          <a:lstStyle/>
          <a:p>
            <a:r>
              <a:rPr lang="en-US" dirty="0"/>
              <a:t>POPULAR LANGUAGES</a:t>
            </a:r>
          </a:p>
        </p:txBody>
      </p:sp>
      <p:sp>
        <p:nvSpPr>
          <p:cNvPr id="7" name="Content Placeholder 2">
            <a:extLst>
              <a:ext uri="{FF2B5EF4-FFF2-40B4-BE49-F238E27FC236}">
                <a16:creationId xmlns:a16="http://schemas.microsoft.com/office/drawing/2014/main" id="{95B1AABA-34AF-B1F5-3C7F-11AEB9E03637}"/>
              </a:ext>
            </a:extLst>
          </p:cNvPr>
          <p:cNvSpPr txBox="1">
            <a:spLocks/>
          </p:cNvSpPr>
          <p:nvPr/>
        </p:nvSpPr>
        <p:spPr>
          <a:xfrm>
            <a:off x="680914" y="1559789"/>
            <a:ext cx="10525371" cy="10702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200" dirty="0"/>
              <a:t>In Module 1 you have collected the job postings data using web scraping in a file named “</a:t>
            </a:r>
            <a:r>
              <a:rPr lang="en-IN" sz="2400" dirty="0"/>
              <a:t>popular-languages.csv</a:t>
            </a:r>
            <a:r>
              <a:rPr lang="en-US" sz="2200" dirty="0"/>
              <a:t>”. Present that data using a bar chart here. Order the bar chart in the descending order of salary.</a:t>
            </a:r>
          </a:p>
          <a:p>
            <a:pPr marL="0" indent="0">
              <a:buFont typeface="Arial"/>
              <a:buNone/>
            </a:pPr>
            <a:endParaRPr lang="en-US" sz="2200" dirty="0"/>
          </a:p>
        </p:txBody>
      </p:sp>
      <p:sp>
        <p:nvSpPr>
          <p:cNvPr id="2" name="AutoShape 2">
            <a:extLst>
              <a:ext uri="{FF2B5EF4-FFF2-40B4-BE49-F238E27FC236}">
                <a16:creationId xmlns:a16="http://schemas.microsoft.com/office/drawing/2014/main" id="{00331CA7-693F-4C9A-BA30-3E045717F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a:extLst>
              <a:ext uri="{FF2B5EF4-FFF2-40B4-BE49-F238E27FC236}">
                <a16:creationId xmlns:a16="http://schemas.microsoft.com/office/drawing/2014/main" id="{B197BD39-254E-19FF-21D8-26E71E038DB3}"/>
              </a:ext>
            </a:extLst>
          </p:cNvPr>
          <p:cNvSpPr>
            <a:spLocks noChangeAspect="1" noChangeArrowheads="1"/>
          </p:cNvSpPr>
          <p:nvPr/>
        </p:nvSpPr>
        <p:spPr bwMode="auto">
          <a:xfrm>
            <a:off x="6096000" y="3429000"/>
            <a:ext cx="2114746" cy="211474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CA45CD97-D625-E77A-8AC8-A009C6FFDF4E}"/>
              </a:ext>
            </a:extLst>
          </p:cNvPr>
          <p:cNvPicPr>
            <a:picLocks noChangeAspect="1"/>
          </p:cNvPicPr>
          <p:nvPr/>
        </p:nvPicPr>
        <p:blipFill>
          <a:blip r:embed="rId3"/>
          <a:stretch>
            <a:fillRect/>
          </a:stretch>
        </p:blipFill>
        <p:spPr>
          <a:xfrm>
            <a:off x="2535023" y="2809187"/>
            <a:ext cx="6817151" cy="3798974"/>
          </a:xfrm>
          <a:prstGeom prst="rect">
            <a:avLst/>
          </a:prstGeom>
        </p:spPr>
      </p:pic>
    </p:spTree>
    <p:custDataLst>
      <p:tags r:id="rId1"/>
    </p:custDataLst>
    <p:extLst>
      <p:ext uri="{BB962C8B-B14F-4D97-AF65-F5344CB8AC3E}">
        <p14:creationId xmlns:p14="http://schemas.microsoft.com/office/powerpoint/2010/main" val="1945902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7A2E-C667-F6D3-A1E3-47F70603EAB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539A591-4DF0-3912-FF72-3FD0BD7B9C1F}"/>
              </a:ext>
            </a:extLst>
          </p:cNvPr>
          <p:cNvSpPr>
            <a:spLocks noGrp="1"/>
          </p:cNvSpPr>
          <p:nvPr>
            <p:ph type="title"/>
          </p:nvPr>
        </p:nvSpPr>
        <p:spPr/>
        <p:txBody>
          <a:bodyPr/>
          <a:lstStyle/>
          <a:p>
            <a:r>
              <a:rPr lang="en-US" dirty="0"/>
              <a:t>PROGRAMMING LANGUAGE TRENDS</a:t>
            </a:r>
          </a:p>
        </p:txBody>
      </p:sp>
      <p:sp>
        <p:nvSpPr>
          <p:cNvPr id="8" name="Content Placeholder 2">
            <a:extLst>
              <a:ext uri="{FF2B5EF4-FFF2-40B4-BE49-F238E27FC236}">
                <a16:creationId xmlns:a16="http://schemas.microsoft.com/office/drawing/2014/main" id="{54B8C8AD-F58A-1F17-9CA2-E737E1949923}"/>
              </a:ext>
            </a:extLst>
          </p:cNvPr>
          <p:cNvSpPr>
            <a:spLocks noGrp="1"/>
          </p:cNvSpPr>
          <p:nvPr>
            <p:ph sz="half" idx="1"/>
          </p:nvPr>
        </p:nvSpPr>
        <p:spPr>
          <a:xfrm>
            <a:off x="924305" y="2063170"/>
            <a:ext cx="2228642" cy="501939"/>
          </a:xfrm>
        </p:spPr>
        <p:txBody>
          <a:bodyPr/>
          <a:lstStyle/>
          <a:p>
            <a:pPr marL="0" indent="0">
              <a:buNone/>
            </a:pPr>
            <a:r>
              <a:rPr lang="en-US" dirty="0"/>
              <a:t>Current Year</a:t>
            </a:r>
          </a:p>
        </p:txBody>
      </p:sp>
      <p:sp>
        <p:nvSpPr>
          <p:cNvPr id="9" name="Content Placeholder 3">
            <a:extLst>
              <a:ext uri="{FF2B5EF4-FFF2-40B4-BE49-F238E27FC236}">
                <a16:creationId xmlns:a16="http://schemas.microsoft.com/office/drawing/2014/main" id="{D9FB3B79-D3E9-99FC-ECF2-28CCBF64752F}"/>
              </a:ext>
            </a:extLst>
          </p:cNvPr>
          <p:cNvSpPr>
            <a:spLocks noGrp="1"/>
          </p:cNvSpPr>
          <p:nvPr>
            <p:ph sz="half" idx="2"/>
          </p:nvPr>
        </p:nvSpPr>
        <p:spPr>
          <a:xfrm>
            <a:off x="6172200" y="2063170"/>
            <a:ext cx="1758142" cy="501939"/>
          </a:xfrm>
        </p:spPr>
        <p:txBody>
          <a:bodyPr/>
          <a:lstStyle/>
          <a:p>
            <a:pPr marL="0" indent="0">
              <a:buNone/>
            </a:pPr>
            <a:r>
              <a:rPr lang="en-US" dirty="0"/>
              <a:t>Next Year</a:t>
            </a:r>
          </a:p>
        </p:txBody>
      </p:sp>
      <p:sp>
        <p:nvSpPr>
          <p:cNvPr id="10" name="Content Placeholder 2">
            <a:extLst>
              <a:ext uri="{FF2B5EF4-FFF2-40B4-BE49-F238E27FC236}">
                <a16:creationId xmlns:a16="http://schemas.microsoft.com/office/drawing/2014/main" id="{2DFAC5CF-1B58-ABB4-D63B-1D931D572459}"/>
              </a:ext>
            </a:extLst>
          </p:cNvPr>
          <p:cNvSpPr txBox="1">
            <a:spLocks/>
          </p:cNvSpPr>
          <p:nvPr/>
        </p:nvSpPr>
        <p:spPr>
          <a:xfrm>
            <a:off x="845473" y="2605804"/>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solidFill>
                <a:schemeClr val="tx1"/>
              </a:solidFill>
            </a:endParaRPr>
          </a:p>
        </p:txBody>
      </p:sp>
      <p:sp>
        <p:nvSpPr>
          <p:cNvPr id="11" name="Content Placeholder 2">
            <a:extLst>
              <a:ext uri="{FF2B5EF4-FFF2-40B4-BE49-F238E27FC236}">
                <a16:creationId xmlns:a16="http://schemas.microsoft.com/office/drawing/2014/main" id="{FBAA9DB0-9EAC-9B25-C7F3-3CE83758128E}"/>
              </a:ext>
            </a:extLst>
          </p:cNvPr>
          <p:cNvSpPr txBox="1">
            <a:spLocks/>
          </p:cNvSpPr>
          <p:nvPr/>
        </p:nvSpPr>
        <p:spPr>
          <a:xfrm>
            <a:off x="6172200" y="2605804"/>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solidFill>
                <a:schemeClr val="tx1"/>
              </a:solidFill>
            </a:endParaRPr>
          </a:p>
        </p:txBody>
      </p:sp>
      <p:sp>
        <p:nvSpPr>
          <p:cNvPr id="3" name="TextBox 2">
            <a:extLst>
              <a:ext uri="{FF2B5EF4-FFF2-40B4-BE49-F238E27FC236}">
                <a16:creationId xmlns:a16="http://schemas.microsoft.com/office/drawing/2014/main" id="{551C5862-9AB9-9679-23B5-A950E973AFB5}"/>
              </a:ext>
            </a:extLst>
          </p:cNvPr>
          <p:cNvSpPr txBox="1"/>
          <p:nvPr/>
        </p:nvSpPr>
        <p:spPr>
          <a:xfrm>
            <a:off x="924305" y="1475244"/>
            <a:ext cx="10429495" cy="461665"/>
          </a:xfrm>
          <a:prstGeom prst="rect">
            <a:avLst/>
          </a:prstGeom>
          <a:noFill/>
        </p:spPr>
        <p:txBody>
          <a:bodyPr wrap="square" rtlCol="0">
            <a:spAutoFit/>
          </a:bodyPr>
          <a:lstStyle/>
          <a:p>
            <a:r>
              <a:rPr lang="en-US" sz="2400" dirty="0"/>
              <a:t>Summarize key trends shown in the charts.</a:t>
            </a:r>
          </a:p>
        </p:txBody>
      </p:sp>
      <p:pic>
        <p:nvPicPr>
          <p:cNvPr id="4" name="Picture 3">
            <a:extLst>
              <a:ext uri="{FF2B5EF4-FFF2-40B4-BE49-F238E27FC236}">
                <a16:creationId xmlns:a16="http://schemas.microsoft.com/office/drawing/2014/main" id="{B16943B8-A05F-7B44-E308-A70D71AB05C5}"/>
              </a:ext>
            </a:extLst>
          </p:cNvPr>
          <p:cNvPicPr>
            <a:picLocks noChangeAspect="1"/>
          </p:cNvPicPr>
          <p:nvPr/>
        </p:nvPicPr>
        <p:blipFill>
          <a:blip r:embed="rId3"/>
          <a:stretch>
            <a:fillRect/>
          </a:stretch>
        </p:blipFill>
        <p:spPr>
          <a:xfrm>
            <a:off x="669160" y="2605804"/>
            <a:ext cx="4873801" cy="3443216"/>
          </a:xfrm>
          <a:prstGeom prst="rect">
            <a:avLst/>
          </a:prstGeom>
        </p:spPr>
      </p:pic>
      <p:pic>
        <p:nvPicPr>
          <p:cNvPr id="6" name="Picture 5">
            <a:extLst>
              <a:ext uri="{FF2B5EF4-FFF2-40B4-BE49-F238E27FC236}">
                <a16:creationId xmlns:a16="http://schemas.microsoft.com/office/drawing/2014/main" id="{47643CFB-D635-CFFD-0201-92D48D9A1642}"/>
              </a:ext>
            </a:extLst>
          </p:cNvPr>
          <p:cNvPicPr>
            <a:picLocks noChangeAspect="1"/>
          </p:cNvPicPr>
          <p:nvPr/>
        </p:nvPicPr>
        <p:blipFill>
          <a:blip r:embed="rId4"/>
          <a:stretch>
            <a:fillRect/>
          </a:stretch>
        </p:blipFill>
        <p:spPr>
          <a:xfrm>
            <a:off x="6172200" y="2565109"/>
            <a:ext cx="5442506" cy="3483911"/>
          </a:xfrm>
          <a:prstGeom prst="rect">
            <a:avLst/>
          </a:prstGeom>
        </p:spPr>
      </p:pic>
      <p:sp>
        <p:nvSpPr>
          <p:cNvPr id="12" name="TextBox 11">
            <a:extLst>
              <a:ext uri="{FF2B5EF4-FFF2-40B4-BE49-F238E27FC236}">
                <a16:creationId xmlns:a16="http://schemas.microsoft.com/office/drawing/2014/main" id="{186497B3-B81C-A568-534D-A371CC478613}"/>
              </a:ext>
            </a:extLst>
          </p:cNvPr>
          <p:cNvSpPr txBox="1"/>
          <p:nvPr/>
        </p:nvSpPr>
        <p:spPr>
          <a:xfrm>
            <a:off x="1867294" y="6108154"/>
            <a:ext cx="9369457" cy="769441"/>
          </a:xfrm>
          <a:prstGeom prst="rect">
            <a:avLst/>
          </a:prstGeom>
          <a:noFill/>
        </p:spPr>
        <p:txBody>
          <a:bodyPr wrap="square" rtlCol="0">
            <a:spAutoFit/>
          </a:bodyPr>
          <a:lstStyle/>
          <a:p>
            <a:r>
              <a:rPr lang="en-US" sz="1100" dirty="0"/>
              <a:t>The current technology landscape is dominated by JavaScript, HTML/CSS, SQL, and Python. Analysis of future preferences shows growing interest in Python and other modern technologies, indicating continued expansion in data analytics, artificial intelligence, cloud computing, and software development. These trends suggest that professionals with strong programming skills, particularly in Python and JavaScript, will remain highly sought after in the job market.</a:t>
            </a:r>
            <a:endParaRPr lang="en-IN" sz="1100" dirty="0"/>
          </a:p>
        </p:txBody>
      </p:sp>
    </p:spTree>
    <p:custDataLst>
      <p:tags r:id="rId1"/>
    </p:custDataLst>
    <p:extLst>
      <p:ext uri="{BB962C8B-B14F-4D97-AF65-F5344CB8AC3E}">
        <p14:creationId xmlns:p14="http://schemas.microsoft.com/office/powerpoint/2010/main" val="3684467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7BF14-48B4-018D-63EE-DF24A5A8C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44DA4-C4B2-2A92-8A96-C527D8D026A7}"/>
              </a:ext>
            </a:extLst>
          </p:cNvPr>
          <p:cNvSpPr>
            <a:spLocks noGrp="1"/>
          </p:cNvSpPr>
          <p:nvPr>
            <p:ph type="title"/>
          </p:nvPr>
        </p:nvSpPr>
        <p:spPr>
          <a:xfrm>
            <a:off x="613065" y="218209"/>
            <a:ext cx="11471562" cy="1330037"/>
          </a:xfrm>
        </p:spPr>
        <p:txBody>
          <a:bodyPr>
            <a:noAutofit/>
          </a:bodyPr>
          <a:lstStyle/>
          <a:p>
            <a:r>
              <a:rPr lang="en-US" dirty="0"/>
              <a:t>PROGRAMMING LANGUAGE TRENDS - FINDINGS &amp; IMPLICATIONS</a:t>
            </a:r>
          </a:p>
        </p:txBody>
      </p:sp>
      <p:sp>
        <p:nvSpPr>
          <p:cNvPr id="3" name="Content Placeholder 2">
            <a:extLst>
              <a:ext uri="{FF2B5EF4-FFF2-40B4-BE49-F238E27FC236}">
                <a16:creationId xmlns:a16="http://schemas.microsoft.com/office/drawing/2014/main" id="{0E85DDBB-31B7-4F81-1E76-90009348F1DE}"/>
              </a:ext>
            </a:extLst>
          </p:cNvPr>
          <p:cNvSpPr>
            <a:spLocks noGrp="1"/>
          </p:cNvSpPr>
          <p:nvPr>
            <p:ph sz="half" idx="1"/>
          </p:nvPr>
        </p:nvSpPr>
        <p:spPr>
          <a:xfrm>
            <a:off x="367647" y="1809022"/>
            <a:ext cx="5363850" cy="4022995"/>
          </a:xfrm>
        </p:spPr>
        <p:txBody>
          <a:bodyPr>
            <a:normAutofit/>
          </a:bodyPr>
          <a:lstStyle/>
          <a:p>
            <a:pPr marL="0" indent="0">
              <a:buNone/>
            </a:pPr>
            <a:r>
              <a:rPr lang="en-US" b="1" dirty="0"/>
              <a:t>Findings</a:t>
            </a:r>
          </a:p>
          <a:p>
            <a:r>
              <a:rPr lang="en-US" sz="2000" dirty="0"/>
              <a:t>Python continues to gain popularity and shows strong future growth due to its applications in Data Science, AI, Machine Learning, and Automation. </a:t>
            </a:r>
          </a:p>
          <a:p>
            <a:r>
              <a:rPr lang="en-US" sz="2000" dirty="0"/>
              <a:t>JavaScript remains one of the most widely used programming languages, maintaining its importance in web and full-stack development. </a:t>
            </a:r>
          </a:p>
          <a:p>
            <a:r>
              <a:rPr lang="en-US" sz="2000" dirty="0"/>
              <a:t>SQL continues to be a critical skill for data analysis, database management, and business intelligence applications.</a:t>
            </a:r>
          </a:p>
          <a:p>
            <a:endParaRPr lang="en-US" dirty="0"/>
          </a:p>
        </p:txBody>
      </p:sp>
      <p:sp>
        <p:nvSpPr>
          <p:cNvPr id="4" name="Content Placeholder 3">
            <a:extLst>
              <a:ext uri="{FF2B5EF4-FFF2-40B4-BE49-F238E27FC236}">
                <a16:creationId xmlns:a16="http://schemas.microsoft.com/office/drawing/2014/main" id="{D2166E7F-5223-7C98-EBC0-E8FA35940F98}"/>
              </a:ext>
            </a:extLst>
          </p:cNvPr>
          <p:cNvSpPr>
            <a:spLocks noGrp="1"/>
          </p:cNvSpPr>
          <p:nvPr>
            <p:ph sz="half" idx="2"/>
          </p:nvPr>
        </p:nvSpPr>
        <p:spPr>
          <a:xfrm>
            <a:off x="6162773" y="1809022"/>
            <a:ext cx="5036270" cy="4022995"/>
          </a:xfrm>
        </p:spPr>
        <p:txBody>
          <a:bodyPr>
            <a:normAutofit/>
          </a:bodyPr>
          <a:lstStyle/>
          <a:p>
            <a:pPr marL="0" indent="0">
              <a:buNone/>
            </a:pPr>
            <a:r>
              <a:rPr lang="en-US" b="1" dirty="0"/>
              <a:t>Implications</a:t>
            </a:r>
          </a:p>
          <a:p>
            <a:r>
              <a:rPr lang="en-US" sz="2000" dirty="0"/>
              <a:t>Professionals should prioritize learning Python, SQL, and JavaScript to remain competitive in the evolving job market. </a:t>
            </a:r>
          </a:p>
          <a:p>
            <a:r>
              <a:rPr lang="en-US" sz="2000" dirty="0"/>
              <a:t>Organizations should invest in training and development programs focused on modern programming and data technologies. </a:t>
            </a:r>
          </a:p>
          <a:p>
            <a:r>
              <a:rPr lang="en-US" sz="2000" dirty="0"/>
              <a:t>Future hiring demand is expected to increase for candidates with expertise in analytics, cloud computing, artificial intelligence, and software development.</a:t>
            </a:r>
          </a:p>
        </p:txBody>
      </p:sp>
    </p:spTree>
    <p:custDataLst>
      <p:tags r:id="rId1"/>
    </p:custDataLst>
    <p:extLst>
      <p:ext uri="{BB962C8B-B14F-4D97-AF65-F5344CB8AC3E}">
        <p14:creationId xmlns:p14="http://schemas.microsoft.com/office/powerpoint/2010/main" val="3701288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0F35-C02C-0C12-3664-049CAC5AF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B430B-2D6C-26E3-5D00-4D061A250E06}"/>
              </a:ext>
            </a:extLst>
          </p:cNvPr>
          <p:cNvSpPr>
            <a:spLocks noGrp="1"/>
          </p:cNvSpPr>
          <p:nvPr>
            <p:ph type="title"/>
          </p:nvPr>
        </p:nvSpPr>
        <p:spPr>
          <a:xfrm>
            <a:off x="862584" y="428768"/>
            <a:ext cx="10515600" cy="1325563"/>
          </a:xfrm>
        </p:spPr>
        <p:txBody>
          <a:bodyPr/>
          <a:lstStyle/>
          <a:p>
            <a:r>
              <a:rPr lang="en-US" dirty="0"/>
              <a:t>DATABASE TRENDS</a:t>
            </a:r>
          </a:p>
        </p:txBody>
      </p:sp>
      <p:sp>
        <p:nvSpPr>
          <p:cNvPr id="3" name="Content Placeholder 2">
            <a:extLst>
              <a:ext uri="{FF2B5EF4-FFF2-40B4-BE49-F238E27FC236}">
                <a16:creationId xmlns:a16="http://schemas.microsoft.com/office/drawing/2014/main" id="{6C2B3FA5-2985-EAFB-8885-6820D4058AF4}"/>
              </a:ext>
            </a:extLst>
          </p:cNvPr>
          <p:cNvSpPr>
            <a:spLocks noGrp="1"/>
          </p:cNvSpPr>
          <p:nvPr>
            <p:ph sz="half" idx="1"/>
          </p:nvPr>
        </p:nvSpPr>
        <p:spPr>
          <a:xfrm>
            <a:off x="813816" y="2065128"/>
            <a:ext cx="2228642" cy="501939"/>
          </a:xfrm>
        </p:spPr>
        <p:txBody>
          <a:bodyPr/>
          <a:lstStyle/>
          <a:p>
            <a:pPr marL="0" indent="0">
              <a:buNone/>
            </a:pPr>
            <a:r>
              <a:rPr lang="en-US" dirty="0"/>
              <a:t>Current Year</a:t>
            </a:r>
          </a:p>
        </p:txBody>
      </p:sp>
      <p:sp>
        <p:nvSpPr>
          <p:cNvPr id="4" name="Content Placeholder 3">
            <a:extLst>
              <a:ext uri="{FF2B5EF4-FFF2-40B4-BE49-F238E27FC236}">
                <a16:creationId xmlns:a16="http://schemas.microsoft.com/office/drawing/2014/main" id="{30E0AA0B-A66B-F896-65D9-69DDA700D8E7}"/>
              </a:ext>
            </a:extLst>
          </p:cNvPr>
          <p:cNvSpPr>
            <a:spLocks noGrp="1"/>
          </p:cNvSpPr>
          <p:nvPr>
            <p:ph sz="half" idx="2"/>
          </p:nvPr>
        </p:nvSpPr>
        <p:spPr>
          <a:xfrm>
            <a:off x="6172200" y="2065127"/>
            <a:ext cx="1758142" cy="501939"/>
          </a:xfrm>
        </p:spPr>
        <p:txBody>
          <a:bodyPr/>
          <a:lstStyle/>
          <a:p>
            <a:pPr marL="0" indent="0">
              <a:buNone/>
            </a:pPr>
            <a:r>
              <a:rPr lang="en-US" dirty="0"/>
              <a:t>Next Year</a:t>
            </a:r>
          </a:p>
        </p:txBody>
      </p:sp>
      <p:sp>
        <p:nvSpPr>
          <p:cNvPr id="5" name="Content Placeholder 2">
            <a:extLst>
              <a:ext uri="{FF2B5EF4-FFF2-40B4-BE49-F238E27FC236}">
                <a16:creationId xmlns:a16="http://schemas.microsoft.com/office/drawing/2014/main" id="{B4E86EFD-B801-5996-879A-7A13CF75507C}"/>
              </a:ext>
            </a:extLst>
          </p:cNvPr>
          <p:cNvSpPr txBox="1">
            <a:spLocks/>
          </p:cNvSpPr>
          <p:nvPr/>
        </p:nvSpPr>
        <p:spPr>
          <a:xfrm>
            <a:off x="813816" y="275893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solidFill>
                <a:schemeClr val="tx1"/>
              </a:solidFill>
            </a:endParaRPr>
          </a:p>
        </p:txBody>
      </p:sp>
      <p:sp>
        <p:nvSpPr>
          <p:cNvPr id="6" name="Content Placeholder 2">
            <a:extLst>
              <a:ext uri="{FF2B5EF4-FFF2-40B4-BE49-F238E27FC236}">
                <a16:creationId xmlns:a16="http://schemas.microsoft.com/office/drawing/2014/main" id="{EF288C39-3E30-44CF-06C3-D46763CC8E0C}"/>
              </a:ext>
            </a:extLst>
          </p:cNvPr>
          <p:cNvSpPr txBox="1">
            <a:spLocks/>
          </p:cNvSpPr>
          <p:nvPr/>
        </p:nvSpPr>
        <p:spPr>
          <a:xfrm>
            <a:off x="6172200" y="2695286"/>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solidFill>
                <a:schemeClr val="tx1"/>
              </a:solidFill>
            </a:endParaRPr>
          </a:p>
        </p:txBody>
      </p:sp>
      <p:sp>
        <p:nvSpPr>
          <p:cNvPr id="7" name="TextBox 6">
            <a:extLst>
              <a:ext uri="{FF2B5EF4-FFF2-40B4-BE49-F238E27FC236}">
                <a16:creationId xmlns:a16="http://schemas.microsoft.com/office/drawing/2014/main" id="{917A0CDF-0FE0-1DE3-5B09-44D4318623B8}"/>
              </a:ext>
            </a:extLst>
          </p:cNvPr>
          <p:cNvSpPr txBox="1"/>
          <p:nvPr/>
        </p:nvSpPr>
        <p:spPr>
          <a:xfrm>
            <a:off x="881252" y="1476527"/>
            <a:ext cx="10429495" cy="461665"/>
          </a:xfrm>
          <a:prstGeom prst="rect">
            <a:avLst/>
          </a:prstGeom>
          <a:noFill/>
        </p:spPr>
        <p:txBody>
          <a:bodyPr wrap="square" rtlCol="0">
            <a:spAutoFit/>
          </a:bodyPr>
          <a:lstStyle/>
          <a:p>
            <a:r>
              <a:rPr lang="en-US" sz="2400" dirty="0"/>
              <a:t>Summarize key trends shown in the charts.</a:t>
            </a:r>
          </a:p>
        </p:txBody>
      </p:sp>
      <p:pic>
        <p:nvPicPr>
          <p:cNvPr id="9" name="Picture 8">
            <a:extLst>
              <a:ext uri="{FF2B5EF4-FFF2-40B4-BE49-F238E27FC236}">
                <a16:creationId xmlns:a16="http://schemas.microsoft.com/office/drawing/2014/main" id="{33647C74-0B37-404B-D0DE-3CC35950198E}"/>
              </a:ext>
            </a:extLst>
          </p:cNvPr>
          <p:cNvPicPr>
            <a:picLocks noChangeAspect="1"/>
          </p:cNvPicPr>
          <p:nvPr/>
        </p:nvPicPr>
        <p:blipFill>
          <a:blip r:embed="rId3"/>
          <a:stretch>
            <a:fillRect/>
          </a:stretch>
        </p:blipFill>
        <p:spPr>
          <a:xfrm>
            <a:off x="510387" y="2694003"/>
            <a:ext cx="5164549" cy="3456307"/>
          </a:xfrm>
          <a:prstGeom prst="rect">
            <a:avLst/>
          </a:prstGeom>
        </p:spPr>
      </p:pic>
      <p:pic>
        <p:nvPicPr>
          <p:cNvPr id="11" name="Picture 10">
            <a:extLst>
              <a:ext uri="{FF2B5EF4-FFF2-40B4-BE49-F238E27FC236}">
                <a16:creationId xmlns:a16="http://schemas.microsoft.com/office/drawing/2014/main" id="{A87DA3F1-CEE1-8953-45CD-E815DF7B53A6}"/>
              </a:ext>
            </a:extLst>
          </p:cNvPr>
          <p:cNvPicPr>
            <a:picLocks noChangeAspect="1"/>
          </p:cNvPicPr>
          <p:nvPr/>
        </p:nvPicPr>
        <p:blipFill>
          <a:blip r:embed="rId4"/>
          <a:stretch>
            <a:fillRect/>
          </a:stretch>
        </p:blipFill>
        <p:spPr>
          <a:xfrm>
            <a:off x="5978365" y="2694001"/>
            <a:ext cx="5487282" cy="3429000"/>
          </a:xfrm>
          <a:prstGeom prst="rect">
            <a:avLst/>
          </a:prstGeom>
        </p:spPr>
      </p:pic>
    </p:spTree>
    <p:custDataLst>
      <p:tags r:id="rId1"/>
    </p:custDataLst>
    <p:extLst>
      <p:ext uri="{BB962C8B-B14F-4D97-AF65-F5344CB8AC3E}">
        <p14:creationId xmlns:p14="http://schemas.microsoft.com/office/powerpoint/2010/main" val="1502887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73699-7C48-9073-3D13-E3CC6544A9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31DE87-39B4-F498-9CF1-BFCBDF499910}"/>
              </a:ext>
            </a:extLst>
          </p:cNvPr>
          <p:cNvSpPr>
            <a:spLocks noGrp="1"/>
          </p:cNvSpPr>
          <p:nvPr>
            <p:ph type="title"/>
          </p:nvPr>
        </p:nvSpPr>
        <p:spPr>
          <a:xfrm>
            <a:off x="862584" y="428768"/>
            <a:ext cx="10515600" cy="1325563"/>
          </a:xfrm>
        </p:spPr>
        <p:txBody>
          <a:bodyPr/>
          <a:lstStyle/>
          <a:p>
            <a:r>
              <a:rPr lang="en-US" dirty="0"/>
              <a:t>DATABASE TRENDS</a:t>
            </a:r>
          </a:p>
        </p:txBody>
      </p:sp>
      <p:sp>
        <p:nvSpPr>
          <p:cNvPr id="3" name="Content Placeholder 2">
            <a:extLst>
              <a:ext uri="{FF2B5EF4-FFF2-40B4-BE49-F238E27FC236}">
                <a16:creationId xmlns:a16="http://schemas.microsoft.com/office/drawing/2014/main" id="{CE34636B-144E-6F27-62AD-759C4E6AEC85}"/>
              </a:ext>
            </a:extLst>
          </p:cNvPr>
          <p:cNvSpPr>
            <a:spLocks noGrp="1"/>
          </p:cNvSpPr>
          <p:nvPr>
            <p:ph sz="half" idx="1"/>
          </p:nvPr>
        </p:nvSpPr>
        <p:spPr>
          <a:xfrm>
            <a:off x="813816" y="2023035"/>
            <a:ext cx="10941410" cy="4189230"/>
          </a:xfrm>
        </p:spPr>
        <p:txBody>
          <a:bodyPr>
            <a:normAutofit/>
          </a:bodyPr>
          <a:lstStyle/>
          <a:p>
            <a:r>
              <a:rPr lang="en-US" sz="2000" b="1" dirty="0"/>
              <a:t>Current Year</a:t>
            </a:r>
          </a:p>
          <a:p>
            <a:r>
              <a:rPr lang="en-US" sz="2000" dirty="0"/>
              <a:t>PostgreSQL, MySQL, Microsoft SQL Server, and MongoDB are among the most widely used database technologies. </a:t>
            </a:r>
          </a:p>
          <a:p>
            <a:r>
              <a:rPr lang="en-US" sz="2000" dirty="0"/>
              <a:t>Relational databases continue to dominate enterprise applications. </a:t>
            </a:r>
          </a:p>
          <a:p>
            <a:r>
              <a:rPr lang="en-US" sz="2000" dirty="0"/>
              <a:t>Organizations rely heavily on databases for data management, reporting, and analytics. </a:t>
            </a:r>
          </a:p>
          <a:p>
            <a:r>
              <a:rPr lang="en-US" sz="2000" b="1" dirty="0"/>
              <a:t>Next Year</a:t>
            </a:r>
          </a:p>
          <a:p>
            <a:r>
              <a:rPr lang="en-US" sz="2000" dirty="0"/>
              <a:t>PostgreSQL shows strong growth in developer preference. </a:t>
            </a:r>
          </a:p>
          <a:p>
            <a:r>
              <a:rPr lang="en-US" sz="2000" dirty="0"/>
              <a:t>MongoDB continues gaining popularity for modern web and cloud applications. </a:t>
            </a:r>
          </a:p>
          <a:p>
            <a:r>
              <a:rPr lang="en-US" sz="2000" dirty="0"/>
              <a:t>Interest in cloud-ready and scalable database technologies is increasing. </a:t>
            </a:r>
          </a:p>
          <a:p>
            <a:r>
              <a:rPr lang="en-US" sz="2000" dirty="0"/>
              <a:t>Both SQL and NoSQL databases are expected to remain important in future technology ecosystems.</a:t>
            </a:r>
          </a:p>
          <a:p>
            <a:pPr marL="0" indent="0">
              <a:buNone/>
            </a:pPr>
            <a:endParaRPr lang="en-US" sz="2000" dirty="0"/>
          </a:p>
        </p:txBody>
      </p:sp>
      <p:sp>
        <p:nvSpPr>
          <p:cNvPr id="4" name="Content Placeholder 3">
            <a:extLst>
              <a:ext uri="{FF2B5EF4-FFF2-40B4-BE49-F238E27FC236}">
                <a16:creationId xmlns:a16="http://schemas.microsoft.com/office/drawing/2014/main" id="{55E98AA1-700A-9D5C-0EA3-4BFC0885645F}"/>
              </a:ext>
            </a:extLst>
          </p:cNvPr>
          <p:cNvSpPr>
            <a:spLocks noGrp="1"/>
          </p:cNvSpPr>
          <p:nvPr>
            <p:ph sz="half" idx="2"/>
          </p:nvPr>
        </p:nvSpPr>
        <p:spPr>
          <a:xfrm>
            <a:off x="6284521" y="404818"/>
            <a:ext cx="1758142" cy="501939"/>
          </a:xfrm>
        </p:spPr>
        <p:txBody>
          <a:bodyPr>
            <a:noAutofit/>
          </a:bodyPr>
          <a:lstStyle/>
          <a:p>
            <a:pPr marL="0" indent="0">
              <a:buNone/>
            </a:pPr>
            <a:r>
              <a:rPr lang="en-US" dirty="0"/>
              <a:t>   </a:t>
            </a:r>
          </a:p>
        </p:txBody>
      </p:sp>
      <p:sp>
        <p:nvSpPr>
          <p:cNvPr id="5" name="Content Placeholder 2">
            <a:extLst>
              <a:ext uri="{FF2B5EF4-FFF2-40B4-BE49-F238E27FC236}">
                <a16:creationId xmlns:a16="http://schemas.microsoft.com/office/drawing/2014/main" id="{A4B98214-9727-1910-83AB-FA9FBAB5E5BF}"/>
              </a:ext>
            </a:extLst>
          </p:cNvPr>
          <p:cNvSpPr txBox="1">
            <a:spLocks/>
          </p:cNvSpPr>
          <p:nvPr/>
        </p:nvSpPr>
        <p:spPr>
          <a:xfrm>
            <a:off x="813816" y="275893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solidFill>
                <a:schemeClr val="tx1"/>
              </a:solidFill>
            </a:endParaRPr>
          </a:p>
        </p:txBody>
      </p:sp>
      <p:sp>
        <p:nvSpPr>
          <p:cNvPr id="6" name="Content Placeholder 2">
            <a:extLst>
              <a:ext uri="{FF2B5EF4-FFF2-40B4-BE49-F238E27FC236}">
                <a16:creationId xmlns:a16="http://schemas.microsoft.com/office/drawing/2014/main" id="{E8631A5C-AA90-164A-A649-032B51CCC4C2}"/>
              </a:ext>
            </a:extLst>
          </p:cNvPr>
          <p:cNvSpPr txBox="1">
            <a:spLocks/>
          </p:cNvSpPr>
          <p:nvPr/>
        </p:nvSpPr>
        <p:spPr>
          <a:xfrm>
            <a:off x="6172200" y="2695286"/>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solidFill>
                <a:schemeClr val="tx1"/>
              </a:solidFill>
            </a:endParaRPr>
          </a:p>
        </p:txBody>
      </p:sp>
      <p:sp>
        <p:nvSpPr>
          <p:cNvPr id="7" name="TextBox 6">
            <a:extLst>
              <a:ext uri="{FF2B5EF4-FFF2-40B4-BE49-F238E27FC236}">
                <a16:creationId xmlns:a16="http://schemas.microsoft.com/office/drawing/2014/main" id="{AD9D3CA4-27D7-73F8-4860-255F24497E8E}"/>
              </a:ext>
            </a:extLst>
          </p:cNvPr>
          <p:cNvSpPr txBox="1"/>
          <p:nvPr/>
        </p:nvSpPr>
        <p:spPr>
          <a:xfrm>
            <a:off x="881252" y="1476527"/>
            <a:ext cx="10429495" cy="461665"/>
          </a:xfrm>
          <a:prstGeom prst="rect">
            <a:avLst/>
          </a:prstGeom>
          <a:noFill/>
        </p:spPr>
        <p:txBody>
          <a:bodyPr wrap="square" rtlCol="0">
            <a:spAutoFit/>
          </a:bodyPr>
          <a:lstStyle/>
          <a:p>
            <a:r>
              <a:rPr lang="en-US" sz="2400" dirty="0"/>
              <a:t>Summarize key trends shown in the charts.</a:t>
            </a:r>
          </a:p>
        </p:txBody>
      </p:sp>
    </p:spTree>
    <p:custDataLst>
      <p:tags r:id="rId1"/>
    </p:custDataLst>
    <p:extLst>
      <p:ext uri="{BB962C8B-B14F-4D97-AF65-F5344CB8AC3E}">
        <p14:creationId xmlns:p14="http://schemas.microsoft.com/office/powerpoint/2010/main" val="740667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A6A9C-70D0-119E-38BE-1738DA5AD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97E2B-01DB-9C21-4CF2-1586AB1C34C4}"/>
              </a:ext>
            </a:extLst>
          </p:cNvPr>
          <p:cNvSpPr>
            <a:spLocks noGrp="1"/>
          </p:cNvSpPr>
          <p:nvPr>
            <p:ph type="title"/>
          </p:nvPr>
        </p:nvSpPr>
        <p:spPr>
          <a:xfrm>
            <a:off x="734786" y="572944"/>
            <a:ext cx="11457214" cy="975302"/>
          </a:xfrm>
        </p:spPr>
        <p:txBody>
          <a:bodyPr>
            <a:normAutofit fontScale="90000"/>
          </a:bodyPr>
          <a:lstStyle/>
          <a:p>
            <a:r>
              <a:rPr lang="en-US" dirty="0"/>
              <a:t>DATABASE TRENDS - FINDINGS &amp; IMPLICATIONS</a:t>
            </a:r>
          </a:p>
        </p:txBody>
      </p:sp>
      <p:sp>
        <p:nvSpPr>
          <p:cNvPr id="3" name="Content Placeholder 2">
            <a:extLst>
              <a:ext uri="{FF2B5EF4-FFF2-40B4-BE49-F238E27FC236}">
                <a16:creationId xmlns:a16="http://schemas.microsoft.com/office/drawing/2014/main" id="{F73EC42F-75A2-FA08-F2B6-EB2817BBF83F}"/>
              </a:ext>
            </a:extLst>
          </p:cNvPr>
          <p:cNvSpPr>
            <a:spLocks noGrp="1"/>
          </p:cNvSpPr>
          <p:nvPr>
            <p:ph sz="half" idx="1"/>
          </p:nvPr>
        </p:nvSpPr>
        <p:spPr>
          <a:xfrm>
            <a:off x="499620" y="1825624"/>
            <a:ext cx="5454193" cy="4459431"/>
          </a:xfrm>
        </p:spPr>
        <p:txBody>
          <a:bodyPr>
            <a:normAutofit fontScale="92500" lnSpcReduction="10000"/>
          </a:bodyPr>
          <a:lstStyle/>
          <a:p>
            <a:pPr marL="0" indent="0">
              <a:buNone/>
            </a:pPr>
            <a:r>
              <a:rPr lang="en-US" sz="3300" b="1" dirty="0"/>
              <a:t>Findings</a:t>
            </a:r>
          </a:p>
          <a:p>
            <a:r>
              <a:rPr lang="en-US" sz="2400" dirty="0"/>
              <a:t>PostgreSQL is one of the fastest-growing databases, showing increased interest among developers for future use. </a:t>
            </a:r>
          </a:p>
          <a:p>
            <a:r>
              <a:rPr lang="en-US" sz="2400" dirty="0"/>
              <a:t>MySQL and Microsoft SQL Server remain widely used, highlighting the continued importance of relational databases. </a:t>
            </a:r>
          </a:p>
          <a:p>
            <a:r>
              <a:rPr lang="en-US" sz="2400" dirty="0"/>
              <a:t>MongoDB continues gaining popularity, reflecting the growing demand for NoSQL databases in modern applications.</a:t>
            </a:r>
          </a:p>
          <a:p>
            <a:endParaRPr lang="en-US" sz="3200" dirty="0"/>
          </a:p>
        </p:txBody>
      </p:sp>
      <p:sp>
        <p:nvSpPr>
          <p:cNvPr id="4" name="Content Placeholder 3">
            <a:extLst>
              <a:ext uri="{FF2B5EF4-FFF2-40B4-BE49-F238E27FC236}">
                <a16:creationId xmlns:a16="http://schemas.microsoft.com/office/drawing/2014/main" id="{D327B10A-E9C3-5B71-0345-782E28BDB37C}"/>
              </a:ext>
            </a:extLst>
          </p:cNvPr>
          <p:cNvSpPr>
            <a:spLocks noGrp="1"/>
          </p:cNvSpPr>
          <p:nvPr>
            <p:ph sz="half" idx="2"/>
          </p:nvPr>
        </p:nvSpPr>
        <p:spPr>
          <a:xfrm>
            <a:off x="6022945" y="1825624"/>
            <a:ext cx="5185526" cy="4301798"/>
          </a:xfrm>
        </p:spPr>
        <p:txBody>
          <a:bodyPr>
            <a:normAutofit fontScale="92500" lnSpcReduction="10000"/>
          </a:bodyPr>
          <a:lstStyle/>
          <a:p>
            <a:pPr marL="0" indent="0">
              <a:buNone/>
            </a:pPr>
            <a:r>
              <a:rPr lang="en-US" sz="3300" b="1" dirty="0"/>
              <a:t>Implications</a:t>
            </a:r>
          </a:p>
          <a:p>
            <a:r>
              <a:rPr lang="en-US" sz="2400" dirty="0"/>
              <a:t>Professionals should develop skills in both SQL and NoSQL databases to remain competitive in the job market. </a:t>
            </a:r>
          </a:p>
          <a:p>
            <a:r>
              <a:rPr lang="en-US" sz="2400" dirty="0"/>
              <a:t>Organizations should invest in scalable and cloud-ready database technologies to support future growth. </a:t>
            </a:r>
          </a:p>
          <a:p>
            <a:r>
              <a:rPr lang="en-US" sz="2400" dirty="0"/>
              <a:t>Demand for database management, data engineering, and analytics expertise is expected to increase as data-driven decision making becomes more important.</a:t>
            </a:r>
          </a:p>
        </p:txBody>
      </p:sp>
    </p:spTree>
    <p:custDataLst>
      <p:tags r:id="rId1"/>
    </p:custDataLst>
    <p:extLst>
      <p:ext uri="{BB962C8B-B14F-4D97-AF65-F5344CB8AC3E}">
        <p14:creationId xmlns:p14="http://schemas.microsoft.com/office/powerpoint/2010/main" val="31881259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8291F-E27C-74F8-33D3-FF131FC9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B7D73-872E-CFE8-1C38-8422F383863C}"/>
              </a:ext>
            </a:extLst>
          </p:cNvPr>
          <p:cNvSpPr>
            <a:spLocks noGrp="1"/>
          </p:cNvSpPr>
          <p:nvPr>
            <p:ph type="title"/>
          </p:nvPr>
        </p:nvSpPr>
        <p:spPr/>
        <p:txBody>
          <a:bodyPr anchor="ctr">
            <a:normAutofit/>
          </a:bodyPr>
          <a:lstStyle/>
          <a:p>
            <a:r>
              <a:rPr lang="en-US" dirty="0"/>
              <a:t>DASHBOARD</a:t>
            </a:r>
          </a:p>
        </p:txBody>
      </p:sp>
      <p:sp>
        <p:nvSpPr>
          <p:cNvPr id="3" name="Content Placeholder 2">
            <a:extLst>
              <a:ext uri="{FF2B5EF4-FFF2-40B4-BE49-F238E27FC236}">
                <a16:creationId xmlns:a16="http://schemas.microsoft.com/office/drawing/2014/main" id="{25C64183-B387-01E7-21BA-4DA6B1F51815}"/>
              </a:ext>
            </a:extLst>
          </p:cNvPr>
          <p:cNvSpPr txBox="1">
            <a:spLocks/>
          </p:cNvSpPr>
          <p:nvPr/>
        </p:nvSpPr>
        <p:spPr>
          <a:xfrm>
            <a:off x="4285075" y="3142210"/>
            <a:ext cx="7068725" cy="25692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200" dirty="0"/>
              <a:t>&lt;Please present your dashboard in the following slides.&gt;</a:t>
            </a:r>
          </a:p>
        </p:txBody>
      </p:sp>
      <p:pic>
        <p:nvPicPr>
          <p:cNvPr id="4" name="Picture 3">
            <a:extLst>
              <a:ext uri="{FF2B5EF4-FFF2-40B4-BE49-F238E27FC236}">
                <a16:creationId xmlns:a16="http://schemas.microsoft.com/office/drawing/2014/main" id="{A79822F7-4A79-5E92-9C6D-8A9769182E2E}"/>
              </a:ext>
            </a:extLst>
          </p:cNvPr>
          <p:cNvPicPr>
            <a:picLocks noChangeAspect="1"/>
          </p:cNvPicPr>
          <p:nvPr/>
        </p:nvPicPr>
        <p:blipFill>
          <a:blip r:embed="rId3"/>
          <a:stretch>
            <a:fillRect/>
          </a:stretch>
        </p:blipFill>
        <p:spPr>
          <a:xfrm>
            <a:off x="1077475" y="1901819"/>
            <a:ext cx="3054361" cy="3054361"/>
          </a:xfrm>
          <a:prstGeom prst="rect">
            <a:avLst/>
          </a:prstGeom>
        </p:spPr>
      </p:pic>
    </p:spTree>
    <p:custDataLst>
      <p:tags r:id="rId1"/>
    </p:custDataLst>
    <p:extLst>
      <p:ext uri="{BB962C8B-B14F-4D97-AF65-F5344CB8AC3E}">
        <p14:creationId xmlns:p14="http://schemas.microsoft.com/office/powerpoint/2010/main" val="175219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2F0CA-55D1-0835-20D4-03D017A1D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93914-A678-A34E-C52A-16D0ADAA25AF}"/>
              </a:ext>
            </a:extLst>
          </p:cNvPr>
          <p:cNvSpPr>
            <a:spLocks noGrp="1"/>
          </p:cNvSpPr>
          <p:nvPr>
            <p:ph type="title"/>
          </p:nvPr>
        </p:nvSpPr>
        <p:spPr>
          <a:xfrm>
            <a:off x="706582" y="365125"/>
            <a:ext cx="11087100" cy="985693"/>
          </a:xfrm>
        </p:spPr>
        <p:txBody>
          <a:bodyPr anchor="ctr">
            <a:noAutofit/>
          </a:bodyPr>
          <a:lstStyle/>
          <a:p>
            <a:r>
              <a:rPr lang="en-US" dirty="0"/>
              <a:t>DASHBOARD TAB 1: Current Technology Usage</a:t>
            </a:r>
          </a:p>
        </p:txBody>
      </p:sp>
      <p:sp>
        <p:nvSpPr>
          <p:cNvPr id="3" name="Content Placeholder 2">
            <a:extLst>
              <a:ext uri="{FF2B5EF4-FFF2-40B4-BE49-F238E27FC236}">
                <a16:creationId xmlns:a16="http://schemas.microsoft.com/office/drawing/2014/main" id="{B396FB03-F857-3EC0-249E-AE03F391502E}"/>
              </a:ext>
            </a:extLst>
          </p:cNvPr>
          <p:cNvSpPr>
            <a:spLocks noGrp="1"/>
          </p:cNvSpPr>
          <p:nvPr>
            <p:ph sz="half" idx="1"/>
          </p:nvPr>
        </p:nvSpPr>
        <p:spPr>
          <a:xfrm>
            <a:off x="838200" y="1690688"/>
            <a:ext cx="10515600" cy="4351338"/>
          </a:xfrm>
        </p:spPr>
        <p:txBody>
          <a:bodyPr/>
          <a:lstStyle/>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D123481D-046F-6D0F-1B54-33DBDF2DF3BC}"/>
              </a:ext>
            </a:extLst>
          </p:cNvPr>
          <p:cNvPicPr>
            <a:picLocks noChangeAspect="1"/>
          </p:cNvPicPr>
          <p:nvPr/>
        </p:nvPicPr>
        <p:blipFill>
          <a:blip r:embed="rId3"/>
          <a:stretch>
            <a:fillRect/>
          </a:stretch>
        </p:blipFill>
        <p:spPr>
          <a:xfrm>
            <a:off x="1416545" y="1615550"/>
            <a:ext cx="8585293" cy="4346473"/>
          </a:xfrm>
          <a:prstGeom prst="rect">
            <a:avLst/>
          </a:prstGeom>
        </p:spPr>
      </p:pic>
    </p:spTree>
    <p:custDataLst>
      <p:tags r:id="rId1"/>
    </p:custDataLst>
    <p:extLst>
      <p:ext uri="{BB962C8B-B14F-4D97-AF65-F5344CB8AC3E}">
        <p14:creationId xmlns:p14="http://schemas.microsoft.com/office/powerpoint/2010/main" val="2429736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D9318-C774-105A-4BBA-07896D647F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C015D7-A44E-62F0-F1B3-51BAC2DBF091}"/>
              </a:ext>
            </a:extLst>
          </p:cNvPr>
          <p:cNvSpPr>
            <a:spLocks noGrp="1"/>
          </p:cNvSpPr>
          <p:nvPr>
            <p:ph type="title"/>
          </p:nvPr>
        </p:nvSpPr>
        <p:spPr>
          <a:xfrm>
            <a:off x="706582" y="365125"/>
            <a:ext cx="11087100" cy="985693"/>
          </a:xfrm>
        </p:spPr>
        <p:txBody>
          <a:bodyPr anchor="ctr">
            <a:noAutofit/>
          </a:bodyPr>
          <a:lstStyle/>
          <a:p>
            <a:r>
              <a:rPr lang="en-US" dirty="0"/>
              <a:t>DASHBOARD TAB 1: Current Technology Usage</a:t>
            </a:r>
          </a:p>
        </p:txBody>
      </p:sp>
      <p:sp>
        <p:nvSpPr>
          <p:cNvPr id="3" name="Content Placeholder 2">
            <a:extLst>
              <a:ext uri="{FF2B5EF4-FFF2-40B4-BE49-F238E27FC236}">
                <a16:creationId xmlns:a16="http://schemas.microsoft.com/office/drawing/2014/main" id="{17A34763-443A-BD43-0B30-9B46AD4BAFCE}"/>
              </a:ext>
            </a:extLst>
          </p:cNvPr>
          <p:cNvSpPr>
            <a:spLocks noGrp="1"/>
          </p:cNvSpPr>
          <p:nvPr>
            <p:ph sz="half" idx="1"/>
          </p:nvPr>
        </p:nvSpPr>
        <p:spPr>
          <a:xfrm>
            <a:off x="245098" y="1498863"/>
            <a:ext cx="11858918" cy="4543163"/>
          </a:xfrm>
        </p:spPr>
        <p:txBody>
          <a:bodyPr/>
          <a:lstStyle/>
          <a:p>
            <a:pPr marL="0" indent="0">
              <a:buNone/>
            </a:pPr>
            <a:endParaRPr lang="en-US" dirty="0"/>
          </a:p>
          <a:p>
            <a:pPr marL="0" indent="0">
              <a:buNone/>
            </a:pPr>
            <a:endParaRPr lang="en-US" dirty="0"/>
          </a:p>
        </p:txBody>
      </p:sp>
      <p:sp>
        <p:nvSpPr>
          <p:cNvPr id="4" name="TextBox 3">
            <a:extLst>
              <a:ext uri="{FF2B5EF4-FFF2-40B4-BE49-F238E27FC236}">
                <a16:creationId xmlns:a16="http://schemas.microsoft.com/office/drawing/2014/main" id="{851B7CE8-E435-8F9B-540E-CCD937FD0FC2}"/>
              </a:ext>
            </a:extLst>
          </p:cNvPr>
          <p:cNvSpPr txBox="1"/>
          <p:nvPr/>
        </p:nvSpPr>
        <p:spPr>
          <a:xfrm>
            <a:off x="706582" y="1600619"/>
            <a:ext cx="11087100" cy="4339650"/>
          </a:xfrm>
          <a:prstGeom prst="rect">
            <a:avLst/>
          </a:prstGeom>
          <a:noFill/>
        </p:spPr>
        <p:txBody>
          <a:bodyPr wrap="square" rtlCol="0">
            <a:spAutoFit/>
          </a:bodyPr>
          <a:lstStyle/>
          <a:p>
            <a:r>
              <a:rPr lang="en-US" sz="1600" b="1" dirty="0"/>
              <a:t>Key Insights</a:t>
            </a:r>
          </a:p>
          <a:p>
            <a:pPr marL="285750" indent="-285750">
              <a:buFont typeface="Arial" panose="020B0604020202020204" pitchFamily="34" charset="0"/>
              <a:buChar char="•"/>
            </a:pPr>
            <a:r>
              <a:rPr lang="en-US" sz="1600" dirty="0"/>
              <a:t>JavaScript, HTML/CSS, TypeScript, and C# are among the most widely used programming languages by survey respondents. </a:t>
            </a:r>
          </a:p>
          <a:p>
            <a:pPr marL="285750" indent="-285750">
              <a:buFont typeface="Arial" panose="020B0604020202020204" pitchFamily="34" charset="0"/>
              <a:buChar char="•"/>
            </a:pPr>
            <a:r>
              <a:rPr lang="en-US" sz="1600" dirty="0"/>
              <a:t>PostgreSQL, Microsoft SQL Server, MySQL, and MongoDB are the most commonly used database technologies. </a:t>
            </a:r>
          </a:p>
          <a:p>
            <a:pPr marL="285750" indent="-285750">
              <a:buFont typeface="Arial" panose="020B0604020202020204" pitchFamily="34" charset="0"/>
              <a:buChar char="•"/>
            </a:pPr>
            <a:r>
              <a:rPr lang="en-US" sz="1600" dirty="0"/>
              <a:t>Amazon Web Services (AWS) and Microsoft Azure dominate the cloud platform landscape, indicating strong adoption of cloud computing technologies. </a:t>
            </a:r>
          </a:p>
          <a:p>
            <a:pPr marL="285750" indent="-285750">
              <a:buFont typeface="Arial" panose="020B0604020202020204" pitchFamily="34" charset="0"/>
              <a:buChar char="•"/>
            </a:pPr>
            <a:r>
              <a:rPr lang="en-US" sz="1600" dirty="0"/>
              <a:t>React, Spring Boot, ASP.NET, and Express are among the most frequently used web frameworks, highlighting the popularity of modern web application development. </a:t>
            </a:r>
          </a:p>
          <a:p>
            <a:pPr marL="285750" indent="-285750">
              <a:buFont typeface="Arial" panose="020B0604020202020204" pitchFamily="34" charset="0"/>
              <a:buChar char="•"/>
            </a:pPr>
            <a:r>
              <a:rPr lang="en-US" sz="1600" dirty="0"/>
              <a:t>The results suggest that full-stack development skills and cloud-platform expertise remain highly relevant in the current technology market. </a:t>
            </a:r>
          </a:p>
          <a:p>
            <a:r>
              <a:rPr lang="en-US" sz="1600" b="1" dirty="0"/>
              <a:t>Business Implications</a:t>
            </a:r>
          </a:p>
          <a:p>
            <a:pPr marL="285750" indent="-285750">
              <a:buFont typeface="Arial" panose="020B0604020202020204" pitchFamily="34" charset="0"/>
              <a:buChar char="•"/>
            </a:pPr>
            <a:r>
              <a:rPr lang="en-US" sz="1600" dirty="0"/>
              <a:t>Organizations should prioritize hiring professionals with expertise in JavaScript, cloud platforms, and modern web frameworks. </a:t>
            </a:r>
          </a:p>
          <a:p>
            <a:pPr marL="285750" indent="-285750">
              <a:buFont typeface="Arial" panose="020B0604020202020204" pitchFamily="34" charset="0"/>
              <a:buChar char="•"/>
            </a:pPr>
            <a:r>
              <a:rPr lang="en-US" sz="1600" dirty="0"/>
              <a:t>Training programs should focus on cloud technologies and full-stack development to meet industry demand. </a:t>
            </a:r>
          </a:p>
          <a:p>
            <a:pPr marL="285750" indent="-285750">
              <a:buFont typeface="Arial" panose="020B0604020202020204" pitchFamily="34" charset="0"/>
              <a:buChar char="•"/>
            </a:pPr>
            <a:r>
              <a:rPr lang="en-US" sz="1600" dirty="0"/>
              <a:t>Database skills in PostgreSQL, SQL Server, and MongoDB continue to be valuable for data-driven applications. </a:t>
            </a:r>
          </a:p>
          <a:p>
            <a:pPr marL="285750" indent="-285750">
              <a:buFont typeface="Arial" panose="020B0604020202020204" pitchFamily="34" charset="0"/>
              <a:buChar char="•"/>
            </a:pPr>
            <a:r>
              <a:rPr lang="en-US" sz="1600" dirty="0"/>
              <a:t>Developers seeking career growth should consider strengthening skills in cloud services and popular web frameworks.</a:t>
            </a:r>
          </a:p>
        </p:txBody>
      </p:sp>
    </p:spTree>
    <p:custDataLst>
      <p:tags r:id="rId1"/>
    </p:custDataLst>
    <p:extLst>
      <p:ext uri="{BB962C8B-B14F-4D97-AF65-F5344CB8AC3E}">
        <p14:creationId xmlns:p14="http://schemas.microsoft.com/office/powerpoint/2010/main" val="27685389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F23D-B8D7-D0E4-EDC5-E0F023884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F933A-3681-3D82-68EF-62EC07822DAD}"/>
              </a:ext>
            </a:extLst>
          </p:cNvPr>
          <p:cNvSpPr>
            <a:spLocks noGrp="1"/>
          </p:cNvSpPr>
          <p:nvPr>
            <p:ph type="title"/>
          </p:nvPr>
        </p:nvSpPr>
        <p:spPr>
          <a:xfrm>
            <a:off x="727364" y="531380"/>
            <a:ext cx="11055926" cy="1016866"/>
          </a:xfrm>
        </p:spPr>
        <p:txBody>
          <a:bodyPr anchor="ctr">
            <a:normAutofit fontScale="90000"/>
          </a:bodyPr>
          <a:lstStyle/>
          <a:p>
            <a:r>
              <a:rPr lang="en-US" dirty="0"/>
              <a:t>DASHBOARD TAB 2: Future Technology Trends</a:t>
            </a:r>
          </a:p>
        </p:txBody>
      </p:sp>
      <p:sp>
        <p:nvSpPr>
          <p:cNvPr id="3" name="Content Placeholder 2">
            <a:extLst>
              <a:ext uri="{FF2B5EF4-FFF2-40B4-BE49-F238E27FC236}">
                <a16:creationId xmlns:a16="http://schemas.microsoft.com/office/drawing/2014/main" id="{73960BF9-AB8D-4916-3BC9-E2E92E0872BE}"/>
              </a:ext>
            </a:extLst>
          </p:cNvPr>
          <p:cNvSpPr>
            <a:spLocks noGrp="1"/>
          </p:cNvSpPr>
          <p:nvPr>
            <p:ph sz="half" idx="1"/>
          </p:nvPr>
        </p:nvSpPr>
        <p:spPr>
          <a:xfrm>
            <a:off x="838200" y="1690688"/>
            <a:ext cx="10515600" cy="4351338"/>
          </a:xfrm>
        </p:spPr>
        <p:txBody>
          <a:bodyPr/>
          <a:lstStyle/>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C321AE4C-F784-0F42-A1D8-00F082D0FD12}"/>
              </a:ext>
            </a:extLst>
          </p:cNvPr>
          <p:cNvPicPr>
            <a:picLocks noChangeAspect="1"/>
          </p:cNvPicPr>
          <p:nvPr/>
        </p:nvPicPr>
        <p:blipFill>
          <a:blip r:embed="rId3"/>
          <a:stretch>
            <a:fillRect/>
          </a:stretch>
        </p:blipFill>
        <p:spPr>
          <a:xfrm>
            <a:off x="1529542" y="1772238"/>
            <a:ext cx="8994207" cy="4269787"/>
          </a:xfrm>
          <a:prstGeom prst="rect">
            <a:avLst/>
          </a:prstGeom>
        </p:spPr>
      </p:pic>
    </p:spTree>
    <p:custDataLst>
      <p:tags r:id="rId1"/>
    </p:custDataLst>
    <p:extLst>
      <p:ext uri="{BB962C8B-B14F-4D97-AF65-F5344CB8AC3E}">
        <p14:creationId xmlns:p14="http://schemas.microsoft.com/office/powerpoint/2010/main" val="20484966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8ECD1-2E3C-A62F-A97D-BE45012077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474F86-6DCB-A218-D29E-C55F83976624}"/>
              </a:ext>
            </a:extLst>
          </p:cNvPr>
          <p:cNvSpPr>
            <a:spLocks noGrp="1"/>
          </p:cNvSpPr>
          <p:nvPr>
            <p:ph type="title"/>
          </p:nvPr>
        </p:nvSpPr>
        <p:spPr>
          <a:xfrm>
            <a:off x="727364" y="531380"/>
            <a:ext cx="11055926" cy="1016866"/>
          </a:xfrm>
        </p:spPr>
        <p:txBody>
          <a:bodyPr anchor="ctr">
            <a:normAutofit fontScale="90000"/>
          </a:bodyPr>
          <a:lstStyle/>
          <a:p>
            <a:r>
              <a:rPr lang="en-US" dirty="0"/>
              <a:t>DASHBOARD TAB 2: Future Technology Trends</a:t>
            </a:r>
          </a:p>
        </p:txBody>
      </p:sp>
      <p:sp>
        <p:nvSpPr>
          <p:cNvPr id="3" name="Content Placeholder 2">
            <a:extLst>
              <a:ext uri="{FF2B5EF4-FFF2-40B4-BE49-F238E27FC236}">
                <a16:creationId xmlns:a16="http://schemas.microsoft.com/office/drawing/2014/main" id="{986031B5-4087-2E53-40AF-A0694D0E0302}"/>
              </a:ext>
            </a:extLst>
          </p:cNvPr>
          <p:cNvSpPr>
            <a:spLocks noGrp="1"/>
          </p:cNvSpPr>
          <p:nvPr>
            <p:ph sz="half" idx="1"/>
          </p:nvPr>
        </p:nvSpPr>
        <p:spPr>
          <a:xfrm>
            <a:off x="838200" y="1690688"/>
            <a:ext cx="10515600" cy="4351338"/>
          </a:xfrm>
        </p:spPr>
        <p:txBody>
          <a:bodyPr/>
          <a:lstStyle/>
          <a:p>
            <a:pPr marL="0" indent="0">
              <a:buNone/>
            </a:pPr>
            <a:endParaRPr lang="en-US" dirty="0"/>
          </a:p>
          <a:p>
            <a:pPr marL="0" indent="0">
              <a:buNone/>
            </a:pPr>
            <a:endParaRPr lang="en-US" dirty="0"/>
          </a:p>
        </p:txBody>
      </p:sp>
      <p:sp>
        <p:nvSpPr>
          <p:cNvPr id="4" name="TextBox 3">
            <a:extLst>
              <a:ext uri="{FF2B5EF4-FFF2-40B4-BE49-F238E27FC236}">
                <a16:creationId xmlns:a16="http://schemas.microsoft.com/office/drawing/2014/main" id="{1F8A2C74-DF89-9B57-6755-CDA35C36D2D9}"/>
              </a:ext>
            </a:extLst>
          </p:cNvPr>
          <p:cNvSpPr txBox="1"/>
          <p:nvPr/>
        </p:nvSpPr>
        <p:spPr>
          <a:xfrm>
            <a:off x="865695" y="1548246"/>
            <a:ext cx="10867605" cy="4708981"/>
          </a:xfrm>
          <a:prstGeom prst="rect">
            <a:avLst/>
          </a:prstGeom>
          <a:noFill/>
        </p:spPr>
        <p:txBody>
          <a:bodyPr wrap="square" rtlCol="0">
            <a:spAutoFit/>
          </a:bodyPr>
          <a:lstStyle/>
          <a:p>
            <a:r>
              <a:rPr lang="en-US" sz="2000" b="1" dirty="0"/>
              <a:t>Key Insights</a:t>
            </a:r>
          </a:p>
          <a:p>
            <a:pPr marL="342900" indent="-342900">
              <a:buFont typeface="Arial" panose="020B0604020202020204" pitchFamily="34" charset="0"/>
              <a:buChar char="•"/>
            </a:pPr>
            <a:r>
              <a:rPr lang="en-US" sz="2000" dirty="0"/>
              <a:t>Python, JavaScript, TypeScript, and Go are among the most desired programming languages for future work. </a:t>
            </a:r>
          </a:p>
          <a:p>
            <a:pPr marL="342900" indent="-342900">
              <a:buFont typeface="Arial" panose="020B0604020202020204" pitchFamily="34" charset="0"/>
              <a:buChar char="•"/>
            </a:pPr>
            <a:r>
              <a:rPr lang="en-US" sz="2000" dirty="0"/>
              <a:t>PostgreSQL and MongoDB continue to attract strong interest among developers. </a:t>
            </a:r>
          </a:p>
          <a:p>
            <a:pPr marL="342900" indent="-342900">
              <a:buFont typeface="Arial" panose="020B0604020202020204" pitchFamily="34" charset="0"/>
              <a:buChar char="•"/>
            </a:pPr>
            <a:r>
              <a:rPr lang="en-US" sz="2000" dirty="0"/>
              <a:t>Cloud platforms such as AWS and Microsoft Azure remain highly preferred for future projects. </a:t>
            </a:r>
          </a:p>
          <a:p>
            <a:pPr marL="342900" indent="-342900">
              <a:buFont typeface="Arial" panose="020B0604020202020204" pitchFamily="34" charset="0"/>
              <a:buChar char="•"/>
            </a:pPr>
            <a:r>
              <a:rPr lang="en-US" sz="2000" dirty="0"/>
              <a:t>Modern web frameworks including React, Angular, and Node.js are expected to remain in high demand. </a:t>
            </a:r>
          </a:p>
          <a:p>
            <a:r>
              <a:rPr lang="en-US" sz="2000" b="1" dirty="0"/>
              <a:t>Implications</a:t>
            </a:r>
          </a:p>
          <a:p>
            <a:pPr marL="342900" indent="-342900">
              <a:buFont typeface="Arial" panose="020B0604020202020204" pitchFamily="34" charset="0"/>
              <a:buChar char="•"/>
            </a:pPr>
            <a:r>
              <a:rPr lang="en-US" sz="2000" dirty="0"/>
              <a:t>Future technology trends indicate growing demand for cloud computing, modern web development, and data-driven technologies. </a:t>
            </a:r>
          </a:p>
          <a:p>
            <a:pPr marL="342900" indent="-342900">
              <a:buFont typeface="Arial" panose="020B0604020202020204" pitchFamily="34" charset="0"/>
              <a:buChar char="•"/>
            </a:pPr>
            <a:r>
              <a:rPr lang="en-US" sz="2000" dirty="0"/>
              <a:t>Professionals should focus on upskilling in emerging technologies to remain competitive. </a:t>
            </a:r>
          </a:p>
          <a:p>
            <a:pPr marL="342900" indent="-342900">
              <a:buFont typeface="Arial" panose="020B0604020202020204" pitchFamily="34" charset="0"/>
              <a:buChar char="•"/>
            </a:pPr>
            <a:r>
              <a:rPr lang="en-US" sz="2000" dirty="0"/>
              <a:t>Organizations can use these trends to guide technology adoption and workforce development strategies.</a:t>
            </a:r>
          </a:p>
          <a:p>
            <a:endParaRPr lang="en-IN" sz="2000" dirty="0"/>
          </a:p>
        </p:txBody>
      </p:sp>
    </p:spTree>
    <p:custDataLst>
      <p:tags r:id="rId1"/>
    </p:custDataLst>
    <p:extLst>
      <p:ext uri="{BB962C8B-B14F-4D97-AF65-F5344CB8AC3E}">
        <p14:creationId xmlns:p14="http://schemas.microsoft.com/office/powerpoint/2010/main" val="26211528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A10D3-267F-7A90-5160-775BFEBCA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C0C82-5F1A-F7B1-2C56-5C08240C1647}"/>
              </a:ext>
            </a:extLst>
          </p:cNvPr>
          <p:cNvSpPr>
            <a:spLocks noGrp="1"/>
          </p:cNvSpPr>
          <p:nvPr>
            <p:ph type="title"/>
          </p:nvPr>
        </p:nvSpPr>
        <p:spPr/>
        <p:txBody>
          <a:bodyPr anchor="ctr">
            <a:normAutofit/>
          </a:bodyPr>
          <a:lstStyle/>
          <a:p>
            <a:r>
              <a:rPr lang="en-US" dirty="0"/>
              <a:t>DASHBOARD TAB 3: Demographics</a:t>
            </a:r>
          </a:p>
        </p:txBody>
      </p:sp>
      <p:sp>
        <p:nvSpPr>
          <p:cNvPr id="7" name="Content Placeholder 6">
            <a:extLst>
              <a:ext uri="{FF2B5EF4-FFF2-40B4-BE49-F238E27FC236}">
                <a16:creationId xmlns:a16="http://schemas.microsoft.com/office/drawing/2014/main" id="{42207288-64AB-3052-0774-548A92E0CD28}"/>
              </a:ext>
            </a:extLst>
          </p:cNvPr>
          <p:cNvSpPr>
            <a:spLocks noGrp="1"/>
          </p:cNvSpPr>
          <p:nvPr>
            <p:ph sz="half" idx="1"/>
          </p:nvPr>
        </p:nvSpPr>
        <p:spPr>
          <a:xfrm>
            <a:off x="75414" y="84840"/>
            <a:ext cx="1278118" cy="412423"/>
          </a:xfrm>
        </p:spPr>
        <p:txBody>
          <a:bodyPr>
            <a:normAutofit fontScale="92500" lnSpcReduction="20000"/>
          </a:bodyPr>
          <a:lstStyle/>
          <a:p>
            <a:pPr marL="0" indent="0">
              <a:buNone/>
            </a:pPr>
            <a:r>
              <a:rPr lang="en-IN" dirty="0"/>
              <a:t> </a:t>
            </a:r>
          </a:p>
        </p:txBody>
      </p:sp>
      <p:pic>
        <p:nvPicPr>
          <p:cNvPr id="9" name="Picture 8">
            <a:extLst>
              <a:ext uri="{FF2B5EF4-FFF2-40B4-BE49-F238E27FC236}">
                <a16:creationId xmlns:a16="http://schemas.microsoft.com/office/drawing/2014/main" id="{C9132590-1543-65DB-1C79-4B9B6896F1FF}"/>
              </a:ext>
            </a:extLst>
          </p:cNvPr>
          <p:cNvPicPr>
            <a:picLocks noChangeAspect="1"/>
          </p:cNvPicPr>
          <p:nvPr/>
        </p:nvPicPr>
        <p:blipFill>
          <a:blip r:embed="rId3"/>
          <a:stretch>
            <a:fillRect/>
          </a:stretch>
        </p:blipFill>
        <p:spPr>
          <a:xfrm>
            <a:off x="1545996" y="1690688"/>
            <a:ext cx="8540685" cy="4276464"/>
          </a:xfrm>
          <a:prstGeom prst="rect">
            <a:avLst/>
          </a:prstGeom>
        </p:spPr>
      </p:pic>
    </p:spTree>
    <p:custDataLst>
      <p:tags r:id="rId1"/>
    </p:custDataLst>
    <p:extLst>
      <p:ext uri="{BB962C8B-B14F-4D97-AF65-F5344CB8AC3E}">
        <p14:creationId xmlns:p14="http://schemas.microsoft.com/office/powerpoint/2010/main" val="24056362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B2906-97E9-1C02-CEFA-D4D369F52E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85E122-8778-87CD-BE8E-999539BED21B}"/>
              </a:ext>
            </a:extLst>
          </p:cNvPr>
          <p:cNvSpPr>
            <a:spLocks noGrp="1"/>
          </p:cNvSpPr>
          <p:nvPr>
            <p:ph type="title"/>
          </p:nvPr>
        </p:nvSpPr>
        <p:spPr/>
        <p:txBody>
          <a:bodyPr anchor="ctr">
            <a:normAutofit/>
          </a:bodyPr>
          <a:lstStyle/>
          <a:p>
            <a:r>
              <a:rPr lang="en-US" dirty="0"/>
              <a:t>DASHBOARD TAB 3: Demographics</a:t>
            </a:r>
          </a:p>
        </p:txBody>
      </p:sp>
      <p:sp>
        <p:nvSpPr>
          <p:cNvPr id="3" name="Content Placeholder 2">
            <a:extLst>
              <a:ext uri="{FF2B5EF4-FFF2-40B4-BE49-F238E27FC236}">
                <a16:creationId xmlns:a16="http://schemas.microsoft.com/office/drawing/2014/main" id="{0F59B9E7-6CFF-B002-DCA6-97D3C680A531}"/>
              </a:ext>
            </a:extLst>
          </p:cNvPr>
          <p:cNvSpPr>
            <a:spLocks noGrp="1"/>
          </p:cNvSpPr>
          <p:nvPr>
            <p:ph sz="half" idx="1"/>
          </p:nvPr>
        </p:nvSpPr>
        <p:spPr>
          <a:xfrm>
            <a:off x="744718" y="1690688"/>
            <a:ext cx="11142481" cy="4374037"/>
          </a:xfrm>
        </p:spPr>
        <p:txBody>
          <a:bodyPr>
            <a:normAutofit fontScale="85000" lnSpcReduction="20000"/>
          </a:bodyPr>
          <a:lstStyle/>
          <a:p>
            <a:pPr marL="0" indent="0">
              <a:buNone/>
            </a:pPr>
            <a:r>
              <a:rPr lang="en-US" b="1" dirty="0"/>
              <a:t>Dashboard Insight – Demographic Insights</a:t>
            </a:r>
          </a:p>
          <a:p>
            <a:r>
              <a:rPr lang="en-US" sz="2600" dirty="0"/>
              <a:t>The survey respondents are primarily concentrated in the young to middle-age groups, indicating that the technology workforce is largely composed of early- and mid-career professionals. </a:t>
            </a:r>
          </a:p>
          <a:p>
            <a:r>
              <a:rPr lang="en-US" sz="2600" dirty="0"/>
              <a:t>Respondents are distributed across multiple countries, showing a globally diverse developer community with strong participation from major technology markets. </a:t>
            </a:r>
          </a:p>
          <a:p>
            <a:r>
              <a:rPr lang="en-US" sz="2600" dirty="0"/>
              <a:t>Most respondents possess higher education qualifications, such as bachelor's or master's degrees, highlighting the importance of formal education in technology careers. </a:t>
            </a:r>
          </a:p>
          <a:p>
            <a:r>
              <a:rPr lang="en-US" sz="2600" dirty="0"/>
              <a:t>Across different age groups, respondents with higher education levels consistently represent a significant proportion of the workforce, suggesting a strong relationship between education and participation in the technology industry. </a:t>
            </a:r>
          </a:p>
          <a:p>
            <a:r>
              <a:rPr lang="en-US" sz="2600" dirty="0"/>
              <a:t>The demographic trends indicate that the future technology workforce is likely to remain highly educated, globally connected, and concentrated among younger professionals.</a:t>
            </a:r>
          </a:p>
          <a:p>
            <a:pPr marL="0" indent="0">
              <a:buNone/>
            </a:pPr>
            <a:endParaRPr lang="en-US" dirty="0"/>
          </a:p>
        </p:txBody>
      </p:sp>
    </p:spTree>
    <p:custDataLst>
      <p:tags r:id="rId1"/>
    </p:custDataLst>
    <p:extLst>
      <p:ext uri="{BB962C8B-B14F-4D97-AF65-F5344CB8AC3E}">
        <p14:creationId xmlns:p14="http://schemas.microsoft.com/office/powerpoint/2010/main" val="35626659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62C0A-56EF-B349-A097-27B4D460D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98769-531F-C6A5-406F-D1C3D2805950}"/>
              </a:ext>
            </a:extLst>
          </p:cNvPr>
          <p:cNvSpPr>
            <a:spLocks noGrp="1"/>
          </p:cNvSpPr>
          <p:nvPr>
            <p:ph type="title"/>
          </p:nvPr>
        </p:nvSpPr>
        <p:spPr/>
        <p:txBody>
          <a:bodyPr anchor="ctr">
            <a:normAutofit/>
          </a:bodyPr>
          <a:lstStyle/>
          <a:p>
            <a:r>
              <a:rPr lang="en-US" dirty="0"/>
              <a:t>DISCUSSION</a:t>
            </a:r>
          </a:p>
        </p:txBody>
      </p:sp>
      <p:pic>
        <p:nvPicPr>
          <p:cNvPr id="3" name="Content Placeholder 2">
            <a:extLst>
              <a:ext uri="{FF2B5EF4-FFF2-40B4-BE49-F238E27FC236}">
                <a16:creationId xmlns:a16="http://schemas.microsoft.com/office/drawing/2014/main" id="{1F45ECC1-C956-CADF-DDFD-F54C6608E401}"/>
              </a:ext>
            </a:extLst>
          </p:cNvPr>
          <p:cNvPicPr>
            <a:picLocks noGrp="1" noChangeAspect="1"/>
          </p:cNvPicPr>
          <p:nvPr>
            <p:ph sz="half" idx="1"/>
          </p:nvPr>
        </p:nvPicPr>
        <p:blipFill>
          <a:blip r:embed="rId3"/>
          <a:stretch>
            <a:fillRect/>
          </a:stretch>
        </p:blipFill>
        <p:spPr>
          <a:xfrm>
            <a:off x="1143282" y="2348628"/>
            <a:ext cx="3054361" cy="3054361"/>
          </a:xfrm>
          <a:prstGeom prst="rect">
            <a:avLst/>
          </a:prstGeom>
          <a:noFill/>
        </p:spPr>
      </p:pic>
      <p:sp>
        <p:nvSpPr>
          <p:cNvPr id="4" name="Content Placeholder 3">
            <a:extLst>
              <a:ext uri="{FF2B5EF4-FFF2-40B4-BE49-F238E27FC236}">
                <a16:creationId xmlns:a16="http://schemas.microsoft.com/office/drawing/2014/main" id="{0F67EF50-003F-6BB0-4367-42BB884C77A4}"/>
              </a:ext>
            </a:extLst>
          </p:cNvPr>
          <p:cNvSpPr>
            <a:spLocks noGrp="1"/>
          </p:cNvSpPr>
          <p:nvPr>
            <p:ph sz="half" idx="2"/>
          </p:nvPr>
        </p:nvSpPr>
        <p:spPr>
          <a:xfrm>
            <a:off x="3987538" y="1455011"/>
            <a:ext cx="8204462" cy="5147034"/>
          </a:xfrm>
        </p:spPr>
        <p:txBody>
          <a:bodyPr>
            <a:noAutofit/>
          </a:bodyPr>
          <a:lstStyle/>
          <a:p>
            <a:pPr marL="0" indent="0">
              <a:buNone/>
            </a:pPr>
            <a:r>
              <a:rPr lang="en-US" sz="1800" b="1" dirty="0"/>
              <a:t>Overall Insights Derived from Dashboards</a:t>
            </a:r>
          </a:p>
          <a:p>
            <a:r>
              <a:rPr lang="en-US" sz="1600" b="1" dirty="0"/>
              <a:t>JavaScript, HTML/CSS, Python, and SQL</a:t>
            </a:r>
            <a:r>
              <a:rPr lang="en-US" sz="1600" dirty="0"/>
              <a:t> remain among the most widely used technologies, demonstrating their continued importance in software development and data-related roles. </a:t>
            </a:r>
          </a:p>
          <a:p>
            <a:r>
              <a:rPr lang="en-US" sz="1600" dirty="0"/>
              <a:t>Interest in </a:t>
            </a:r>
            <a:r>
              <a:rPr lang="en-US" sz="1600" b="1" dirty="0"/>
              <a:t>Python, cloud platforms, and modern web frameworks</a:t>
            </a:r>
            <a:r>
              <a:rPr lang="en-US" sz="1600" dirty="0"/>
              <a:t> is expected to grow in the coming years, indicating strong future demand for these skills. </a:t>
            </a:r>
          </a:p>
          <a:p>
            <a:r>
              <a:rPr lang="en-US" sz="1600" b="1" dirty="0"/>
              <a:t>Amazon Web Services (AWS)</a:t>
            </a:r>
            <a:r>
              <a:rPr lang="en-US" sz="1600" dirty="0"/>
              <a:t> and </a:t>
            </a:r>
            <a:r>
              <a:rPr lang="en-US" sz="1600" b="1" dirty="0"/>
              <a:t>Microsoft Azure</a:t>
            </a:r>
            <a:r>
              <a:rPr lang="en-US" sz="1600" dirty="0"/>
              <a:t> are the leading cloud platforms currently used and are also among the most desired technologies for future adoption. </a:t>
            </a:r>
          </a:p>
          <a:p>
            <a:r>
              <a:rPr lang="en-US" sz="1600" b="1" dirty="0"/>
              <a:t>PostgreSQL, MySQL, and Microsoft SQL Server</a:t>
            </a:r>
            <a:r>
              <a:rPr lang="en-US" sz="1600" dirty="0"/>
              <a:t> are popular database technologies, with PostgreSQL showing particularly strong future interest among developers. </a:t>
            </a:r>
          </a:p>
          <a:p>
            <a:r>
              <a:rPr lang="en-US" sz="1600" dirty="0"/>
              <a:t>The developer community is highly </a:t>
            </a:r>
            <a:r>
              <a:rPr lang="en-US" sz="1600" b="1" dirty="0"/>
              <a:t>global and diverse</a:t>
            </a:r>
            <a:r>
              <a:rPr lang="en-US" sz="1600" dirty="0"/>
              <a:t>, with significant participation from multiple countries and regions. </a:t>
            </a:r>
          </a:p>
          <a:p>
            <a:r>
              <a:rPr lang="en-US" sz="1600" dirty="0"/>
              <a:t>Most respondents are </a:t>
            </a:r>
            <a:r>
              <a:rPr lang="en-US" sz="1600" b="1" dirty="0"/>
              <a:t>25–44 years old</a:t>
            </a:r>
            <a:r>
              <a:rPr lang="en-US" sz="1600" dirty="0"/>
              <a:t> and possess </a:t>
            </a:r>
            <a:r>
              <a:rPr lang="en-US" sz="1600" b="1" dirty="0"/>
              <a:t>Bachelor's or Master's degrees</a:t>
            </a:r>
            <a:r>
              <a:rPr lang="en-US" sz="1600" dirty="0"/>
              <a:t>, suggesting that the technology workforce is largely composed of educated early- and mid-career professionals. </a:t>
            </a:r>
          </a:p>
          <a:p>
            <a:r>
              <a:rPr lang="en-US" sz="1600" dirty="0"/>
              <a:t>The comparison between current and future technology trends indicates a shift toward </a:t>
            </a:r>
            <a:r>
              <a:rPr lang="en-US" sz="1600" b="1" dirty="0"/>
              <a:t>cloud computing, open-source technologies, modern databases, and data-driven development practices</a:t>
            </a:r>
            <a:r>
              <a:rPr lang="en-US" sz="1600" dirty="0"/>
              <a:t>.</a:t>
            </a:r>
          </a:p>
        </p:txBody>
      </p:sp>
    </p:spTree>
    <p:custDataLst>
      <p:tags r:id="rId1"/>
    </p:custDataLst>
    <p:extLst>
      <p:ext uri="{BB962C8B-B14F-4D97-AF65-F5344CB8AC3E}">
        <p14:creationId xmlns:p14="http://schemas.microsoft.com/office/powerpoint/2010/main" val="8573335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05330-0589-A550-601A-037CA416F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A8902-AF46-DDE8-D792-7940E18AF629}"/>
              </a:ext>
            </a:extLst>
          </p:cNvPr>
          <p:cNvSpPr>
            <a:spLocks noGrp="1"/>
          </p:cNvSpPr>
          <p:nvPr>
            <p:ph type="title"/>
          </p:nvPr>
        </p:nvSpPr>
        <p:spPr/>
        <p:txBody>
          <a:bodyPr/>
          <a:lstStyle/>
          <a:p>
            <a:r>
              <a:rPr lang="en-US" dirty="0"/>
              <a:t>OVERALL FINDINGS &amp; IMPLICATIONS</a:t>
            </a:r>
          </a:p>
        </p:txBody>
      </p:sp>
      <p:sp>
        <p:nvSpPr>
          <p:cNvPr id="3" name="Content Placeholder 2">
            <a:extLst>
              <a:ext uri="{FF2B5EF4-FFF2-40B4-BE49-F238E27FC236}">
                <a16:creationId xmlns:a16="http://schemas.microsoft.com/office/drawing/2014/main" id="{D196B89C-35B9-C514-4E9C-FCBE8D68D3FD}"/>
              </a:ext>
            </a:extLst>
          </p:cNvPr>
          <p:cNvSpPr>
            <a:spLocks noGrp="1"/>
          </p:cNvSpPr>
          <p:nvPr>
            <p:ph sz="half" idx="1"/>
          </p:nvPr>
        </p:nvSpPr>
        <p:spPr>
          <a:xfrm>
            <a:off x="471340" y="1825625"/>
            <a:ext cx="5524076" cy="3934152"/>
          </a:xfrm>
        </p:spPr>
        <p:txBody>
          <a:bodyPr>
            <a:normAutofit fontScale="92500" lnSpcReduction="10000"/>
          </a:bodyPr>
          <a:lstStyle/>
          <a:p>
            <a:pPr marL="0" indent="0">
              <a:buNone/>
            </a:pPr>
            <a:r>
              <a:rPr lang="en-US" sz="3100" b="1" dirty="0"/>
              <a:t>Findings</a:t>
            </a:r>
          </a:p>
          <a:p>
            <a:r>
              <a:rPr lang="en-US" sz="2500" dirty="0"/>
              <a:t>JavaScript, HTML/CSS, Python, and SQL are among the most widely used technologies by developers today. </a:t>
            </a:r>
          </a:p>
          <a:p>
            <a:r>
              <a:rPr lang="en-US" sz="2500" dirty="0"/>
              <a:t>Cloud platforms, especially AWS and Microsoft Azure, show strong current adoption and continued future interest. </a:t>
            </a:r>
          </a:p>
          <a:p>
            <a:r>
              <a:rPr lang="en-US" sz="2500" dirty="0"/>
              <a:t>PostgreSQL and modern web frameworks demonstrate increasing popularity and future growth potential. </a:t>
            </a:r>
          </a:p>
          <a:p>
            <a:endParaRPr lang="en-US" dirty="0"/>
          </a:p>
        </p:txBody>
      </p:sp>
      <p:sp>
        <p:nvSpPr>
          <p:cNvPr id="4" name="Content Placeholder 3">
            <a:extLst>
              <a:ext uri="{FF2B5EF4-FFF2-40B4-BE49-F238E27FC236}">
                <a16:creationId xmlns:a16="http://schemas.microsoft.com/office/drawing/2014/main" id="{2FDBBA5A-826D-FFFD-F1BE-92269842D330}"/>
              </a:ext>
            </a:extLst>
          </p:cNvPr>
          <p:cNvSpPr>
            <a:spLocks noGrp="1"/>
          </p:cNvSpPr>
          <p:nvPr>
            <p:ph sz="half" idx="2"/>
          </p:nvPr>
        </p:nvSpPr>
        <p:spPr>
          <a:xfrm>
            <a:off x="6172200" y="1825624"/>
            <a:ext cx="5790414" cy="4273517"/>
          </a:xfrm>
        </p:spPr>
        <p:txBody>
          <a:bodyPr>
            <a:normAutofit fontScale="92500" lnSpcReduction="10000"/>
          </a:bodyPr>
          <a:lstStyle/>
          <a:p>
            <a:pPr marL="0" indent="0">
              <a:buNone/>
            </a:pPr>
            <a:r>
              <a:rPr lang="en-US" sz="3100" b="1" dirty="0"/>
              <a:t>Implications</a:t>
            </a:r>
          </a:p>
          <a:p>
            <a:r>
              <a:rPr lang="en-US" sz="2500" dirty="0"/>
              <a:t>Organizations should invest in cloud computing, modern databases, and web development technologies to remain competitive. </a:t>
            </a:r>
          </a:p>
          <a:p>
            <a:r>
              <a:rPr lang="en-US" sz="2500" dirty="0"/>
              <a:t>Professionals can improve career prospects by developing skills in Python, cloud platforms, and modern frameworks. </a:t>
            </a:r>
          </a:p>
          <a:p>
            <a:r>
              <a:rPr lang="en-US" sz="2500" dirty="0"/>
              <a:t>The technology industry is increasingly driven by highly educated, globally distributed, and early-to-mid career professionals.</a:t>
            </a:r>
          </a:p>
        </p:txBody>
      </p:sp>
    </p:spTree>
    <p:custDataLst>
      <p:tags r:id="rId1"/>
    </p:custDataLst>
    <p:extLst>
      <p:ext uri="{BB962C8B-B14F-4D97-AF65-F5344CB8AC3E}">
        <p14:creationId xmlns:p14="http://schemas.microsoft.com/office/powerpoint/2010/main" val="38656372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3A16F-6AB5-5C0B-5466-65B2A6AE811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5E978FF3-BC93-079A-1687-DD4786B81DF4}"/>
              </a:ext>
            </a:extLst>
          </p:cNvPr>
          <p:cNvSpPr>
            <a:spLocks noGrp="1"/>
          </p:cNvSpPr>
          <p:nvPr>
            <p:ph type="title"/>
          </p:nvPr>
        </p:nvSpPr>
        <p:spPr/>
        <p:txBody>
          <a:bodyPr anchor="ctr">
            <a:normAutofit/>
          </a:bodyPr>
          <a:lstStyle/>
          <a:p>
            <a:r>
              <a:rPr lang="en-US" dirty="0"/>
              <a:t>CONCLUSION</a:t>
            </a:r>
          </a:p>
        </p:txBody>
      </p:sp>
      <p:pic>
        <p:nvPicPr>
          <p:cNvPr id="13" name="Content Placeholder 5">
            <a:extLst>
              <a:ext uri="{FF2B5EF4-FFF2-40B4-BE49-F238E27FC236}">
                <a16:creationId xmlns:a16="http://schemas.microsoft.com/office/drawing/2014/main" id="{CD985AE9-0D12-3398-B9B7-4395CABF1707}"/>
              </a:ext>
            </a:extLst>
          </p:cNvPr>
          <p:cNvPicPr>
            <a:picLocks noGrp="1" noChangeAspect="1"/>
          </p:cNvPicPr>
          <p:nvPr>
            <p:ph sz="half" idx="1"/>
          </p:nvPr>
        </p:nvPicPr>
        <p:blipFill>
          <a:blip r:embed="rId3"/>
          <a:stretch>
            <a:fillRect/>
          </a:stretch>
        </p:blipFill>
        <p:spPr>
          <a:xfrm>
            <a:off x="1125967" y="2113896"/>
            <a:ext cx="3054361" cy="3054361"/>
          </a:xfrm>
          <a:prstGeom prst="rect">
            <a:avLst/>
          </a:prstGeom>
        </p:spPr>
      </p:pic>
      <p:sp>
        <p:nvSpPr>
          <p:cNvPr id="12" name="Content Placeholder 3">
            <a:extLst>
              <a:ext uri="{FF2B5EF4-FFF2-40B4-BE49-F238E27FC236}">
                <a16:creationId xmlns:a16="http://schemas.microsoft.com/office/drawing/2014/main" id="{2E75918E-509D-16F8-F478-FA41759FEFE9}"/>
              </a:ext>
            </a:extLst>
          </p:cNvPr>
          <p:cNvSpPr txBox="1">
            <a:spLocks/>
          </p:cNvSpPr>
          <p:nvPr/>
        </p:nvSpPr>
        <p:spPr>
          <a:xfrm>
            <a:off x="4288372" y="1797344"/>
            <a:ext cx="7446604" cy="44620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800" dirty="0"/>
              <a:t>The analysis of current technology usage, future technology trends, and developer demographics reveals that the technology industry continues to evolve toward cloud-based, data-driven, and modern development practices.</a:t>
            </a:r>
          </a:p>
          <a:p>
            <a:r>
              <a:rPr lang="en-US" sz="1800" dirty="0"/>
              <a:t>Technologies such as JavaScript, Python, SQL, PostgreSQL, AWS, and Microsoft Azure demonstrate both strong current adoption and high future demand.</a:t>
            </a:r>
          </a:p>
          <a:p>
            <a:r>
              <a:rPr lang="en-US" sz="1800" dirty="0"/>
              <a:t>The survey also highlights that the developer community is globally distributed and largely composed of highly educated professionals in the 25–44 age range. This suggests that continuous learning and adaptation to emerging technologies are critical for career growth and organizational success.</a:t>
            </a:r>
          </a:p>
          <a:p>
            <a:r>
              <a:rPr lang="en-US" sz="1800" dirty="0"/>
              <a:t>Overall, organizations should prioritize investments in cloud computing, modern databases, and web development technologies, while professionals should focus on developing skills in these high-demand areas to remain competitive in the evolving technology landscape.</a:t>
            </a:r>
          </a:p>
        </p:txBody>
      </p:sp>
    </p:spTree>
    <p:custDataLst>
      <p:tags r:id="rId1"/>
    </p:custDataLst>
    <p:extLst>
      <p:ext uri="{BB962C8B-B14F-4D97-AF65-F5344CB8AC3E}">
        <p14:creationId xmlns:p14="http://schemas.microsoft.com/office/powerpoint/2010/main" val="8403782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1598F-DBE3-7B78-D1F9-0BA7F7DC75B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4A3B939-6057-23B6-25B3-E33A2D205C2A}"/>
              </a:ext>
            </a:extLst>
          </p:cNvPr>
          <p:cNvSpPr>
            <a:spLocks noGrp="1"/>
          </p:cNvSpPr>
          <p:nvPr>
            <p:ph type="title"/>
          </p:nvPr>
        </p:nvSpPr>
        <p:spPr/>
        <p:txBody>
          <a:bodyPr anchor="ctr">
            <a:normAutofit/>
          </a:bodyPr>
          <a:lstStyle/>
          <a:p>
            <a:r>
              <a:rPr lang="en-US" dirty="0"/>
              <a:t>APPENDIX</a:t>
            </a:r>
          </a:p>
        </p:txBody>
      </p:sp>
      <p:pic>
        <p:nvPicPr>
          <p:cNvPr id="11" name="Content Placeholder 3">
            <a:extLst>
              <a:ext uri="{FF2B5EF4-FFF2-40B4-BE49-F238E27FC236}">
                <a16:creationId xmlns:a16="http://schemas.microsoft.com/office/drawing/2014/main" id="{E8E550E5-7A15-A106-D083-8C1433A790A1}"/>
              </a:ext>
            </a:extLst>
          </p:cNvPr>
          <p:cNvPicPr>
            <a:picLocks noGrp="1" noChangeAspect="1"/>
          </p:cNvPicPr>
          <p:nvPr>
            <p:ph sz="half" idx="1"/>
          </p:nvPr>
        </p:nvPicPr>
        <p:blipFill>
          <a:blip r:embed="rId3"/>
          <a:stretch>
            <a:fillRect/>
          </a:stretch>
        </p:blipFill>
        <p:spPr>
          <a:xfrm>
            <a:off x="1055857" y="1849823"/>
            <a:ext cx="3194581" cy="3194581"/>
          </a:xfrm>
          <a:prstGeom prst="rect">
            <a:avLst/>
          </a:prstGeom>
        </p:spPr>
      </p:pic>
      <p:sp>
        <p:nvSpPr>
          <p:cNvPr id="10" name="Content Placeholder 3">
            <a:extLst>
              <a:ext uri="{FF2B5EF4-FFF2-40B4-BE49-F238E27FC236}">
                <a16:creationId xmlns:a16="http://schemas.microsoft.com/office/drawing/2014/main" id="{8E40FF55-AE57-CB43-454D-CEFBE080CE8E}"/>
              </a:ext>
            </a:extLst>
          </p:cNvPr>
          <p:cNvSpPr txBox="1">
            <a:spLocks/>
          </p:cNvSpPr>
          <p:nvPr/>
        </p:nvSpPr>
        <p:spPr>
          <a:xfrm>
            <a:off x="4544291" y="1825625"/>
            <a:ext cx="680950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a:t>Include any relevant additional charts, or tables that you may have created during the analysis phase.</a:t>
            </a:r>
            <a:endParaRPr lang="en-US" dirty="0"/>
          </a:p>
        </p:txBody>
      </p:sp>
    </p:spTree>
    <p:custDataLst>
      <p:tags r:id="rId1"/>
    </p:custDataLst>
    <p:extLst>
      <p:ext uri="{BB962C8B-B14F-4D97-AF65-F5344CB8AC3E}">
        <p14:creationId xmlns:p14="http://schemas.microsoft.com/office/powerpoint/2010/main" val="18601586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8"/>
  <p:tag name="ARTICULATE_DESIGN_ID_SLIDE_TEMPLATE_SKILL_NETWORK" val="762xjmeN"/>
  <p:tag name="ARTICULATE_DESIGN_ID_IBM DEVELOPER 2018 WHITE BACKGROUND" val="AcyDFp8V"/>
  <p:tag name="ARTICULATE_SLIDE_THUMBNAIL_REFRESH" val="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BM Skills Network PPT Template 01.2023.pptx" id="{565886F7-76CC-4370-877F-2511E1EB1B28}" vid="{AD061E48-3596-4052-9172-46F1919207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5445547-4CD8-432E-8B58-E443FD17F88F}">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9" ma:contentTypeDescription="Create a new document." ma:contentTypeScope="" ma:versionID="d7279d4efbac013e02c1e816bc7f7c13">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0a3fd1dbe83fc08387abb87098562ef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AWB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bfc8dc1-ab14-4a6b-8a4a-9f7f0b948a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AWBlink" ma:index="25" nillable="true" ma:displayName="AWB link" ma:description="Author Workbench link" ma:format="Dropdown" ma:internalName="AWBlink">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2edd55d-11a0-43df-8094-42adcb6055ca}" ma:internalName="TaxCatchAll" ma:showField="CatchAllData" ma:web="f80a141d-92ca-4d3d-9308-f7e7b1d44c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55be751-a274-42e8-93fb-f39d3b9bccc8">
      <Terms xmlns="http://schemas.microsoft.com/office/infopath/2007/PartnerControls"/>
    </lcf76f155ced4ddcb4097134ff3c332f>
    <TaxCatchAll xmlns="f80a141d-92ca-4d3d-9308-f7e7b1d44ce8" xsi:nil="true"/>
    <AWBlink xmlns="155be751-a274-42e8-93fb-f39d3b9bccc8" xsi:nil="true"/>
  </documentManagement>
</p:properties>
</file>

<file path=customXml/itemProps1.xml><?xml version="1.0" encoding="utf-8"?>
<ds:datastoreItem xmlns:ds="http://schemas.openxmlformats.org/officeDocument/2006/customXml" ds:itemID="{BEAB06F8-DBB4-44C7-AF84-8B098C8B03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5be751-a274-42e8-93fb-f39d3b9bccc8"/>
    <ds:schemaRef ds:uri="f80a141d-92ca-4d3d-9308-f7e7b1d44c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3.xml><?xml version="1.0" encoding="utf-8"?>
<ds:datastoreItem xmlns:ds="http://schemas.openxmlformats.org/officeDocument/2006/customXml" ds:itemID="{54DA07C5-A406-4A0D-B3E6-3856C94AC7F3}">
  <ds:schemaRefs>
    <ds:schemaRef ds:uri="155be751-a274-42e8-93fb-f39d3b9bccc8"/>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f80a141d-92ca-4d3d-9308-f7e7b1d44ce8"/>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466</TotalTime>
  <Words>1714</Words>
  <Application>Microsoft Office PowerPoint</Application>
  <PresentationFormat>Widescreen</PresentationFormat>
  <Paragraphs>158</Paragraphs>
  <Slides>24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Calibri</vt:lpstr>
      <vt:lpstr>Helv</vt:lpstr>
      <vt:lpstr>IBM Plex Mono</vt:lpstr>
      <vt:lpstr>IBM Plex Mono Medium</vt:lpstr>
      <vt:lpstr>IBM Plex Sans</vt:lpstr>
      <vt:lpstr>IBM Plex Sans SemiBold</vt:lpstr>
      <vt:lpstr>SLIDE_TEMPLATE_skill_network</vt:lpstr>
      <vt:lpstr>Title: Data Analyst Capstone Project Report</vt:lpstr>
      <vt:lpstr>PowerPoint Presentation</vt:lpstr>
      <vt:lpstr>EXECUTIVE SUMMARY</vt:lpstr>
      <vt:lpstr>INTRODUCTION</vt:lpstr>
      <vt:lpstr>METHODOLOGY</vt:lpstr>
      <vt:lpstr>Results</vt:lpstr>
      <vt:lpstr> JOB POSTINGS</vt:lpstr>
      <vt:lpstr>POPULAR LANGUAGES</vt:lpstr>
      <vt:lpstr>PROGRAMMING LANGUAGE TRENDS</vt:lpstr>
      <vt:lpstr>PROGRAMMING LANGUAGE TRENDS - FINDINGS &amp; IMPLICATIONS</vt:lpstr>
      <vt:lpstr>DATABASE TRENDS</vt:lpstr>
      <vt:lpstr>DATABASE TRENDS</vt:lpstr>
      <vt:lpstr>DATABASE TRENDS - FINDINGS &amp; IMPLICATIONS</vt:lpstr>
      <vt:lpstr>DASHBOARD</vt:lpstr>
      <vt:lpstr>DASHBOARD TAB 1: Current Technology Usage</vt:lpstr>
      <vt:lpstr>DASHBOARD TAB 1: Current Technology Usage</vt:lpstr>
      <vt:lpstr>DASHBOARD TAB 2: Future Technology Trends</vt:lpstr>
      <vt:lpstr>DASHBOARD TAB 2: Future Technology Trends</vt:lpstr>
      <vt:lpstr>DASHBOARD TAB 3: Demographics</vt:lpstr>
      <vt:lpstr>DASHBOARD TAB 3: Demographics</vt:lpstr>
      <vt:lpstr>DISCUSSION</vt:lpstr>
      <vt:lpstr>OVERALL FINDINGS &amp; IMPLICATIONS</vt:lpstr>
      <vt:lpstr>CONCLUSION</vt:lpstr>
      <vt:lpstr>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Tori Sleeper</dc:creator>
  <cp:lastModifiedBy>ARYAN AWACHAT</cp:lastModifiedBy>
  <cp:revision>10</cp:revision>
  <dcterms:created xsi:type="dcterms:W3CDTF">2024-10-30T05:40:03Z</dcterms:created>
  <dcterms:modified xsi:type="dcterms:W3CDTF">2026-06-16T16:13:23Z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MediaServiceImageTags">
    <vt:lpwstr/>
  </property>
  <property fmtid="{D5CDD505-2E9C-101B-9397-08002B2CF9AE}" pid="4" name="ArticulateGUID">
    <vt:lpwstr>07C438A6-8092-445C-AC0D-AE1422093206</vt:lpwstr>
  </property>
  <property fmtid="{D5CDD505-2E9C-101B-9397-08002B2CF9AE}" pid="5" name="ArticulatePath">
    <vt:lpwstr>https://skilluptech.sharepoint.com/sites/Coursera/Shared Documents/General/PPT template/IBM Skills Network PPT Template 01.2023</vt:lpwstr>
  </property>
</Properties>
</file>